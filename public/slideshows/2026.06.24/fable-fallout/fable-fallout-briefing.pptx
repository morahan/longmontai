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2272a01ed4ed0" /><Relationship Type="http://schemas.openxmlformats.org/officeDocument/2006/relationships/extended-properties" Target="/docProps/app.xml" Id="R1f6a379ca0114320" /><Relationship Type="http://schemas.openxmlformats.org/officeDocument/2006/relationships/officeDocument" Target="/ppt/presentation.xml" Id="R407a6fba26f0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862d7c8564838"/>
  </p:sldMasterIdLst>
  <p:notesMasterIdLst>
    <p:notesMasterId xmlns:r="http://schemas.openxmlformats.org/officeDocument/2006/relationships" r:id="R1423c5b70bd5436e"/>
  </p:notesMasterIdLst>
  <p:sldIdLst>
    <p:sldId xmlns:r="http://schemas.openxmlformats.org/officeDocument/2006/relationships" id="256" r:id="R6a2f75db10964130"/>
    <p:sldId xmlns:r="http://schemas.openxmlformats.org/officeDocument/2006/relationships" id="257" r:id="R2c77e8638d674c84"/>
    <p:sldId xmlns:r="http://schemas.openxmlformats.org/officeDocument/2006/relationships" id="258" r:id="R3c2a2b9037294307"/>
    <p:sldId xmlns:r="http://schemas.openxmlformats.org/officeDocument/2006/relationships" id="259" r:id="Rcca759291a5f4360"/>
    <p:sldId xmlns:r="http://schemas.openxmlformats.org/officeDocument/2006/relationships" id="260" r:id="R5b0eed8c4c99484e"/>
    <p:sldId xmlns:r="http://schemas.openxmlformats.org/officeDocument/2006/relationships" id="261" r:id="R0264b6e901994f81"/>
    <p:sldId xmlns:r="http://schemas.openxmlformats.org/officeDocument/2006/relationships" id="262" r:id="R2c8cae92b3ca44dd"/>
    <p:sldId xmlns:r="http://schemas.openxmlformats.org/officeDocument/2006/relationships" id="263" r:id="R1604a51fe2604048"/>
    <p:sldId xmlns:r="http://schemas.openxmlformats.org/officeDocument/2006/relationships" id="264" r:id="R9fb47fccbb264d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862d7c8564838" /><Relationship Type="http://schemas.openxmlformats.org/officeDocument/2006/relationships/theme" Target="/ppt/theme/theme1.xml" Id="R33303cb292644ac8" /><Relationship Type="http://schemas.openxmlformats.org/officeDocument/2006/relationships/notesMaster" Target="/ppt/notesMasters/notesMaster1.xml" Id="R1423c5b70bd5436e" /><Relationship Type="http://schemas.openxmlformats.org/officeDocument/2006/relationships/presProps" Target="/ppt/presProps.xml" Id="R1a7637108680474d" /><Relationship Type="http://schemas.openxmlformats.org/officeDocument/2006/relationships/viewProps" Target="/ppt/viewProps.xml" Id="Rc7f328a8f43b412c" /><Relationship Type="http://schemas.openxmlformats.org/officeDocument/2006/relationships/tableStyles" Target="/ppt/tableStyles.xml" Id="Rfa618a7f492c46a8" /><Relationship Type="http://schemas.openxmlformats.org/officeDocument/2006/relationships/slide" Target="/ppt/slides/slide1.xml" Id="R6a2f75db10964130" /><Relationship Type="http://schemas.openxmlformats.org/officeDocument/2006/relationships/slide" Target="/ppt/slides/slide2.xml" Id="R2c77e8638d674c84" /><Relationship Type="http://schemas.openxmlformats.org/officeDocument/2006/relationships/slide" Target="/ppt/slides/slide3.xml" Id="R3c2a2b9037294307" /><Relationship Type="http://schemas.openxmlformats.org/officeDocument/2006/relationships/slide" Target="/ppt/slides/slide4.xml" Id="Rcca759291a5f4360" /><Relationship Type="http://schemas.openxmlformats.org/officeDocument/2006/relationships/slide" Target="/ppt/slides/slide5.xml" Id="R5b0eed8c4c99484e" /><Relationship Type="http://schemas.openxmlformats.org/officeDocument/2006/relationships/slide" Target="/ppt/slides/slide6.xml" Id="R0264b6e901994f81" /><Relationship Type="http://schemas.openxmlformats.org/officeDocument/2006/relationships/slide" Target="/ppt/slides/slide7.xml" Id="R2c8cae92b3ca44dd" /><Relationship Type="http://schemas.openxmlformats.org/officeDocument/2006/relationships/slide" Target="/ppt/slides/slide8.xml" Id="R1604a51fe2604048" /><Relationship Type="http://schemas.openxmlformats.org/officeDocument/2006/relationships/slide" Target="/ppt/slides/slide9.xml" Id="R9fb47fccbb26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5e66cd042d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889bb84154feb" /><Relationship Type="http://schemas.openxmlformats.org/officeDocument/2006/relationships/notesMaster" Target="/ppt/notesMasters/notesMaster1.xml" Id="R842a129709d341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bd81d53b24abb" /><Relationship Type="http://schemas.openxmlformats.org/officeDocument/2006/relationships/notesMaster" Target="/ppt/notesMasters/notesMaster1.xml" Id="Rddfacb304a2148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d69a6008b4779" /><Relationship Type="http://schemas.openxmlformats.org/officeDocument/2006/relationships/notesMaster" Target="/ppt/notesMasters/notesMaster1.xml" Id="Rfe8e7de05ffd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e07774233a44bd" /><Relationship Type="http://schemas.openxmlformats.org/officeDocument/2006/relationships/notesMaster" Target="/ppt/notesMasters/notesMaster1.xml" Id="R3f882ad99b574a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c3bdfd92f4f53" /><Relationship Type="http://schemas.openxmlformats.org/officeDocument/2006/relationships/notesMaster" Target="/ppt/notesMasters/notesMaster1.xml" Id="Re0e2c9195241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61f35be87442d6" /><Relationship Type="http://schemas.openxmlformats.org/officeDocument/2006/relationships/notesMaster" Target="/ppt/notesMasters/notesMaster1.xml" Id="R2d7f88561de44a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3e8d889ef44d69" /><Relationship Type="http://schemas.openxmlformats.org/officeDocument/2006/relationships/notesMaster" Target="/ppt/notesMasters/notesMaster1.xml" Id="R335d385778b14e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fbf8547c5f4e3a" /><Relationship Type="http://schemas.openxmlformats.org/officeDocument/2006/relationships/notesMaster" Target="/ppt/notesMasters/notesMaster1.xml" Id="Rb83c8cea677e43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f46912d0064239" /><Relationship Type="http://schemas.openxmlformats.org/officeDocument/2006/relationships/notesMaster" Target="/ppt/notesMasters/notesMaster1.xml" Id="R4f7367a689ac48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a1dbc33da427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2c0dc2d8f246e1" /><Relationship Type="http://schemas.openxmlformats.org/officeDocument/2006/relationships/slideLayout" Target="/ppt/slideLayouts/slideLayout2.xml" Id="Rc0d70746ed2045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70746ed2045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3e182b87b4f8b" /><Relationship Type="http://schemas.openxmlformats.org/officeDocument/2006/relationships/notesSlide" Target="/ppt/notesSlides/notesSlide1.xml" Id="R7ee93793ba8d4a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a8516485044e0" /><Relationship Type="http://schemas.openxmlformats.org/officeDocument/2006/relationships/image" Target="/ppt/media/image.jpeg" Id="R532342f0e6544997" /><Relationship Type="http://schemas.openxmlformats.org/officeDocument/2006/relationships/notesSlide" Target="/ppt/notesSlides/notesSlide2.xml" Id="R8ba9f1900095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1d5bc83ea489b" /><Relationship Type="http://schemas.openxmlformats.org/officeDocument/2006/relationships/image" Target="/ppt/media/image.png" Id="R30033ba173e44719" /><Relationship Type="http://schemas.openxmlformats.org/officeDocument/2006/relationships/notesSlide" Target="/ppt/notesSlides/notesSlide3.xml" Id="R42bb54dd172a41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4758876a34cea" /><Relationship Type="http://schemas.openxmlformats.org/officeDocument/2006/relationships/image" Target="/ppt/media/image2.png" Id="Rbd32d584e13e4a77" /><Relationship Type="http://schemas.openxmlformats.org/officeDocument/2006/relationships/notesSlide" Target="/ppt/notesSlides/notesSlide4.xml" Id="R1a18ae035bb8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e94741f094025" /><Relationship Type="http://schemas.openxmlformats.org/officeDocument/2006/relationships/image" Target="/ppt/media/image3.png" Id="R8814444ead2b4bcf" /><Relationship Type="http://schemas.openxmlformats.org/officeDocument/2006/relationships/notesSlide" Target="/ppt/notesSlides/notesSlide5.xml" Id="Rb340596f615e49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e26ab1b9b84f19" /><Relationship Type="http://schemas.openxmlformats.org/officeDocument/2006/relationships/image" Target="/ppt/media/image4.png" Id="Rfedef198e2c74967" /><Relationship Type="http://schemas.openxmlformats.org/officeDocument/2006/relationships/notesSlide" Target="/ppt/notesSlides/notesSlide6.xml" Id="R1c2bc0a5b73449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85c74cc2a4b2f" /><Relationship Type="http://schemas.openxmlformats.org/officeDocument/2006/relationships/notesSlide" Target="/ppt/notesSlides/notesSlide7.xml" Id="R5984612ca89149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f4a74f69c47bb" /><Relationship Type="http://schemas.openxmlformats.org/officeDocument/2006/relationships/image" Target="/ppt/media/image5.png" Id="Rf429f63b3e594069" /><Relationship Type="http://schemas.openxmlformats.org/officeDocument/2006/relationships/notesSlide" Target="/ppt/notesSlides/notesSlide8.xml" Id="R1313ecd95fc349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8571fa5a24944" /><Relationship Type="http://schemas.openxmlformats.org/officeDocument/2006/relationships/notesSlide" Target="/ppt/notesSlides/notesSlide9.xml" Id="R7c59b8ddfe5e43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54449-154D-42C5-8FBE-5993BF9B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A958F-8BAE-4A58-A6BE-EB23172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BED22-1343-4F06-AA8C-5D3FDED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4271C-B863-472F-A573-994A18DE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JUNE 24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9E561-0310-4973-A31C-E1CA4FA1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Routing the Fallout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485F0-93E3-414F-9DD0-6B8B6054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The frontier is no longer just model quality. It is access, cost, workflow design, and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CE1D9-C407-4F70-A13A-64A6218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3B5CC-138A-43F2-8C7B-07BAF843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Use the best model you can justify. Route everything else. Verify before it leaves the building.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17B27-158A-43B2-8098-FF141F5E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Fable 5  •  token maxxing  •  GLM routing  •  deep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F8F64-91AF-4A64-A2BB-21C356E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Visual briefing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C3F9E-66C8-481A-B4F3-F2283E6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57048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0F93E-63F2-4C4C-A670-23D273D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9C1BC-EEBF-4791-84CE-D9FF526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074B0-79E9-42BA-9F3E-4FEED18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094A0-6D42-44FF-91DC-D198D43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THE BIG PICTURE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67349-1013-40A5-981E-99E2FEA3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Inference got cheaper.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9D51-C212-4971-BFFE-DD0DEE6C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The baseline cost collapse is the starting point for the 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1FE85-2B4C-4DCD-8562-40EB2251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704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342f0e6544997"/>
          <a:stretch xmlns:a="http://schemas.openxmlformats.org/drawingml/2006/main"/>
        </p:blipFill>
        <p:spPr>
          <a:xfrm xmlns:a="http://schemas.openxmlformats.org/drawingml/2006/main">
            <a:off x="4318792" y="2838450"/>
            <a:ext cx="3554415" cy="2990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BC9C5-13A3-4210-AA2E-1008C5E2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Stanford AI Index screenshot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ABCB4-BD16-4B93-9249-4093B3F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73527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D5A50-DEC1-45E9-A6E0-BB56CF8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CBA9-465D-4A5D-9B86-E892B8D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F466C-4277-45A3-B88B-485AA8F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9F6FB-B7C3-42AB-A2FA-ADB0E5F4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TOKEN MAXXING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0C1EB-C93E-4E8C-9253-12280A0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Work got hungrier.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16EFC-48B8-4DCC-92D2-3B7AF2F9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Agents can turn cheaper tokens into a larger total task bill.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1F41E-EDE8-46EE-9E8B-F078CE4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33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33ba173e44719"/>
          <a:stretch xmlns:a="http://schemas.openxmlformats.org/drawingml/2006/main"/>
        </p:blipFill>
        <p:spPr>
          <a:xfrm xmlns:a="http://schemas.openxmlformats.org/drawingml/2006/main">
            <a:off x="3867395" y="2971800"/>
            <a:ext cx="4457209" cy="2514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65DF4-EE9D-4776-B13A-DF3A0FD7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Token-maxxing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C9BF7-896D-4A7D-9085-DE458808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99504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2D73F-35B9-4067-8C4D-B467C48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BB280-4A98-42E8-BC05-E3FE384D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AC570-793C-46D8-9C16-7BE1C35C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58AB2-B576-44ED-8888-C65BB8E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94004-E6AE-478A-87DA-50826F78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76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top model can become a fragile dependency.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715A8-B51C-450D-8618-D56DB62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Access changes should be a routing event, not a system failure.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36B07-8043-4B4A-8D06-F170D11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9525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2d584e13e4a77"/>
          <a:stretch xmlns:a="http://schemas.openxmlformats.org/drawingml/2006/main"/>
        </p:blipFill>
        <p:spPr>
          <a:xfrm xmlns:a="http://schemas.openxmlformats.org/drawingml/2006/main">
            <a:off x="3815013" y="3200400"/>
            <a:ext cx="456197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AAE54-4B2A-410E-B950-8E748AAD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Keep it portable.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CF07C-2A0F-4DD1-93FD-7E6FE878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Fable 5 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CE634-FC5A-48E8-ABEB-690FABF7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19262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4509A-2D3F-4CA3-AD02-92924B5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E245B-568D-4729-A37E-E1C2216F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FFF1F-0076-4D31-9110-A9D87AEE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3EDDC-8510-4731-B3B8-7D99336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HARNESSES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A9031-314D-40EF-A710-A81C7BA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workflow is the product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14689-4220-4B37-A3BD-59967C59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Classify, fan out, verify, filter, compete, and loop only until the stop condition is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6F8BC-6331-41A7-A4F0-395137D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9525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4444ead2b4bcf"/>
          <a:stretch xmlns:a="http://schemas.openxmlformats.org/drawingml/2006/main"/>
        </p:blipFill>
        <p:spPr>
          <a:xfrm xmlns:a="http://schemas.openxmlformats.org/drawingml/2006/main">
            <a:off x="3784432" y="3105150"/>
            <a:ext cx="4623137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C87C6-FD53-44B0-97FE-62EB01B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Six workflow patterns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1244C-A775-44EA-B64A-BCC13C6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2918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2CA26-10AF-494F-99BE-2B69E2E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7D6C6-C566-47EC-9D09-D83E174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7597F-4496-4732-88B7-5BE3E3F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491D2-D2F7-40AD-BFFE-CCA68EE5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DEEP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B8EF6-85B3-40DB-AB37-288D7DB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Verification becomes a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2E614-B24F-4D74-9EDB-07C2D54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The harness checks claims, sources, and decisions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019B7-216B-4AF7-88FE-046A44FC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9334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ef198e2c74967"/>
          <a:stretch xmlns:a="http://schemas.openxmlformats.org/drawingml/2006/main"/>
        </p:blipFill>
        <p:spPr>
          <a:xfrm xmlns:a="http://schemas.openxmlformats.org/drawingml/2006/main">
            <a:off x="2597313" y="2952750"/>
            <a:ext cx="6997375" cy="2800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C3059-ECFC-4396-8DAA-A19EC63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Deep verification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7F4C-86C2-4006-A4D3-32F79622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74884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5C5E7-1F0A-43FC-91E7-7EE727F5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509FF-347F-412D-85DF-61120D2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7B5F2-18CE-44A0-9570-E2F59C10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413BC-A8E4-4519-B3FE-E8BF7AE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GLM LOCAL / CLOUD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0D59D-BEC8-4121-AF80-81DA62B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Route the model, not the belief.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B63AD-3B3E-4F5A-AED7-B3BE859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GLM is a lane to evaluate. Frontier APIs are another. The harness chooses the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ABB23-3A60-4A6E-AECF-49FC547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61728-91EC-4013-B81A-E2A597C2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D9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2D9EA"/>
                </a:solidFill>
                <a:latin typeface="Aptos Display"/>
                <a:ea typeface="Aptos Display"/>
                <a:cs typeface="Aptos Display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07A1B-E144-4FF6-ADA8-B5A08C7B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cheap and fast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F51A3-7A98-4E35-BFEE-E7AB8DDE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6C25B-D22C-49E2-B22B-D1EC1D1F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D99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7D99E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D377A-75CE-4412-8D7C-A29AFC26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GLM 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ED608-15F8-4DB1-A220-91175D24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8BC1F-AB2C-4B53-A7FB-2ABCE8AF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7A5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7A59"/>
                </a:solidFill>
                <a:latin typeface="Aptos Display"/>
                <a:ea typeface="Aptos Display"/>
                <a:cs typeface="Aptos Display"/>
              </a:rPr>
              <a:t>Synthesize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F18F9-CBC8-42CC-9B95-4451F2AE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frontier when worth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001AF-F2BD-4391-B755-5584648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6D7B7-E308-48D8-99BA-0E37AE1B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C8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C86A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FA07D-4428-4AEF-8FDB-9707BAB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33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adversarial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76B6E-B373-4EF1-8326-17549C8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340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 first for comparison. Local when the workload repeats or the data matters.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FEBAE-6F4E-42D3-BED6-10BE7DF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GLM routing action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B9F49-F480-40E4-AB1F-5544506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2429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C5B57-8402-4CB6-B942-30D4D084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0A4D7-52A9-4EAD-A9DB-EA60A02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6E549-6F8D-4CEC-83A2-88307796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7C0DB-FA2E-415C-9FAA-70CE98D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8101C-2B98-4FB6-8459-D8BC0C7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Proof before publish.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DB556-280D-40E8-9825-1F88276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A finished AI task should show what ran, what passed, what changed, and what it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31AE-3702-4B57-9017-825A7952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5314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f63b3e594069"/>
          <a:stretch xmlns:a="http://schemas.openxmlformats.org/drawingml/2006/main"/>
        </p:blipFill>
        <p:spPr>
          <a:xfrm xmlns:a="http://schemas.openxmlformats.org/drawingml/2006/main">
            <a:off x="4772228" y="3048000"/>
            <a:ext cx="2647545" cy="2705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A0DF2-CE55-45E7-AAC0-66EDBF1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Goal Achieved screenshot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23559-30BE-42AD-8553-A194203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01899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F7B80-55A4-48D6-8ED0-0333876D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19D13-0C72-4E8A-9B58-638F8A6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9DBEA-7FAD-46D4-A351-480B777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77771-8E51-4FD5-9F68-CF2D920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9B4C3"/>
                </a:solidFill>
                <a:latin typeface="Aptos Mono"/>
                <a:ea typeface="Aptos Mono"/>
                <a:cs typeface="Aptos Mono"/>
              </a:rPr>
              <a:t>CURSOR + SPACEX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4F22-A025-49C3-9BDC-9481622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Coding tools are becoming infrastructure bets.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D29BD-87A5-4213-AA25-955A3320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3"/>
                </a:solidFill>
                <a:latin typeface="Aptos"/>
                <a:ea typeface="Aptos"/>
                <a:cs typeface="Aptos"/>
              </a:rPr>
              <a:t>Reporting framed SpaceX's Cursor move as a $60B all-stock acquisition agreement, with compute as the strategic prize.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C1E73-AF4D-416A-B74E-C4E2F867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FAEA3-5C4E-4F3C-B906-C9324944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product is not just the editor.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7DA3F-C1EC-4004-9AD6-3F3D181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B4C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9B4C3"/>
                </a:solidFill>
                <a:latin typeface="Aptos"/>
                <a:ea typeface="Aptos"/>
                <a:cs typeface="Aptos"/>
              </a:rPr>
              <a:t>It is the model lane, the GPU lane, and the workflow lane behind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8B49E-1392-4966-AEA0-DC5DBBC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Times of India June 17 + MarketWatch June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9817E-090A-4E96-9B20-9077AF7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607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2026-06-24T05:38:39.3480000Z</dcterms:created>
  <dcterms:modified xsi:type="dcterms:W3CDTF">2026-06-24T05:38:39.3480000Z</dcterms:modified>
</coreProperties>
</file>