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400800" cy="6400800"/>
          </a:xfrm>
          <a:prstGeom prst="ellipse">
            <a:avLst/>
          </a:prstGeom>
          <a:solidFill>
            <a:srgbClr val="39D7C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023360"/>
            <a:ext cx="5852160" cy="5852160"/>
          </a:xfrm>
          <a:prstGeom prst="ellipse">
            <a:avLst/>
          </a:prstGeom>
          <a:solidFill>
            <a:srgbClr val="E08A5E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914400"/>
            <a:ext cx="603504" cy="603504"/>
          </a:xfrm>
          <a:prstGeom prst="ellipse">
            <a:avLst/>
          </a:prstGeom>
          <a:solidFill>
            <a:srgbClr val="39D7C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151" y="1071311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39D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LONGMONT AI MEETUP  ·  JUNE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10789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0"/>
              </a:lnSpc>
              <a:buNone/>
            </a:pPr>
            <a:r>
              <a:rPr lang="en-US" sz="92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</a:t>
            </a:r>
            <a:endParaRPr lang="en-US" sz="9200" dirty="0"/>
          </a:p>
          <a:p>
            <a:pPr indent="0" marL="0">
              <a:lnSpc>
                <a:spcPts val="10000"/>
              </a:lnSpc>
              <a:buNone/>
            </a:pPr>
            <a:r>
              <a:rPr lang="en-US" sz="92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LANDSCAPE</a:t>
            </a:r>
            <a:endParaRPr lang="en-US" sz="9200" dirty="0"/>
          </a:p>
        </p:txBody>
      </p:sp>
      <p:sp>
        <p:nvSpPr>
          <p:cNvPr id="8" name="Text 5"/>
          <p:cNvSpPr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models   ·   Coding harnesses   ·   Agent frameworks   ·   Open weights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77240" y="51389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play as of June 10, 2026 — one day after Claude Fable 5 landed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9D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· FRONTIER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frontier stacks up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price per 1M tokens (in / out) · headline benchmark · Artificial Analysis Intelligence Index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LONGMONT AI MEETUP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700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 IN / OUT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0" y="17007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BENCHMARK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0" y="170078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 INDEX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11338560" cy="804672"/>
          </a:xfrm>
          <a:prstGeom prst="roundRect">
            <a:avLst>
              <a:gd name="adj" fmla="val 7955"/>
            </a:avLst>
          </a:prstGeom>
          <a:solidFill>
            <a:srgbClr val="1A2536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2340864"/>
            <a:ext cx="146304" cy="146304"/>
          </a:xfrm>
          <a:prstGeom prst="ellipse">
            <a:avLst/>
          </a:prstGeom>
          <a:solidFill>
            <a:srgbClr val="E08A5E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07568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Fable 5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50976" y="24963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· Jun 9, 2026 · 1M ctx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0" y="213969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/ $50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406640" y="21396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 Pro ~80%  ·  HLE 53% — #1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424160" y="210312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39D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411480" y="2880360"/>
            <a:ext cx="11338560" cy="804672"/>
          </a:xfrm>
          <a:prstGeom prst="roundRect">
            <a:avLst>
              <a:gd name="adj" fmla="val 7955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209544"/>
            <a:ext cx="146304" cy="146304"/>
          </a:xfrm>
          <a:prstGeom prst="ellipse">
            <a:avLst/>
          </a:prstGeom>
          <a:solidFill>
            <a:srgbClr val="E08A5E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" y="294436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4.8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50976" y="33649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· 1M ctx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0" y="300837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0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 / $25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06640" y="30083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 daily driver for agentic coding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424160" y="297180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411480" y="3749040"/>
            <a:ext cx="11338560" cy="804672"/>
          </a:xfrm>
          <a:prstGeom prst="roundRect">
            <a:avLst>
              <a:gd name="adj" fmla="val 7955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4078224"/>
            <a:ext cx="146304" cy="146304"/>
          </a:xfrm>
          <a:prstGeom prst="ellipse">
            <a:avLst/>
          </a:prstGeom>
          <a:solidFill>
            <a:srgbClr val="33C79F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381304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GPT-5.5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950976" y="42336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Apr 2026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0" y="38770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C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 / $30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406640" y="387705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 Verified 88.7%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0424160" y="384048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411480" y="4617720"/>
            <a:ext cx="11338560" cy="804672"/>
          </a:xfrm>
          <a:prstGeom prst="roundRect">
            <a:avLst>
              <a:gd name="adj" fmla="val 7955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8368" y="4946904"/>
            <a:ext cx="146304" cy="146304"/>
          </a:xfrm>
          <a:prstGeom prst="ellipse">
            <a:avLst/>
          </a:prstGeom>
          <a:solidFill>
            <a:srgbClr val="7AA7F8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" y="46817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3.1 Pro</a:t>
            </a:r>
            <a:endParaRPr lang="en-US" sz="2500" dirty="0"/>
          </a:p>
        </p:txBody>
      </p:sp>
      <p:sp>
        <p:nvSpPr>
          <p:cNvPr id="34" name="Text 32"/>
          <p:cNvSpPr/>
          <p:nvPr/>
        </p:nvSpPr>
        <p:spPr>
          <a:xfrm>
            <a:off x="950976" y="51023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· Feb 2026 · 2M ctx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0" y="47457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A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 / $12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7406640" y="47457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GPQA Diamond 94.3%  ·  ARC-AGI-2 lead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424160" y="470916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3200" dirty="0"/>
          </a:p>
        </p:txBody>
      </p:sp>
      <p:sp>
        <p:nvSpPr>
          <p:cNvPr id="38" name="Shape 36"/>
          <p:cNvSpPr/>
          <p:nvPr/>
        </p:nvSpPr>
        <p:spPr>
          <a:xfrm>
            <a:off x="411480" y="5486400"/>
            <a:ext cx="11338560" cy="804672"/>
          </a:xfrm>
          <a:prstGeom prst="roundRect">
            <a:avLst>
              <a:gd name="adj" fmla="val 7955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8368" y="5815584"/>
            <a:ext cx="146304" cy="146304"/>
          </a:xfrm>
          <a:prstGeom prst="ellipse">
            <a:avLst/>
          </a:prstGeom>
          <a:solidFill>
            <a:srgbClr val="C9D2DE"/>
          </a:solidFill>
          <a:ln/>
        </p:spPr>
      </p:sp>
      <p:sp>
        <p:nvSpPr>
          <p:cNvPr id="40" name="Text 38"/>
          <p:cNvSpPr/>
          <p:nvPr/>
        </p:nvSpPr>
        <p:spPr>
          <a:xfrm>
            <a:off x="932688" y="555040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 4.3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950976" y="59710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xAI · Apr 2026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0" y="56144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$1.25 / $2.50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7406640" y="561441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frontier  ·  live X / web data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0424160" y="5577840"/>
            <a:ext cx="1234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Index: Artificial Analysis Intelligence Index, June 2026. Fable 5 scores are early third-party numbers; Anthropic's system-card figures pending.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9D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02 · CODING HARNESSES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harness wars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wrapper matters: same model, different harness = very different results. Terminal-Bench gap between top harnesses is ~15 points.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LONGMONT AI MEETUP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20624" y="1874520"/>
            <a:ext cx="2148840" cy="4160520"/>
          </a:xfrm>
          <a:prstGeom prst="roundRect">
            <a:avLst>
              <a:gd name="adj" fmla="val 3830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093976"/>
            <a:ext cx="457200" cy="457200"/>
          </a:xfrm>
          <a:prstGeom prst="ellipse">
            <a:avLst/>
          </a:prstGeom>
          <a:solidFill>
            <a:srgbClr val="E08A5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221284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2679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21792" y="30449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21792" y="3355848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0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3500" dirty="0"/>
          </a:p>
        </p:txBody>
      </p:sp>
      <p:sp>
        <p:nvSpPr>
          <p:cNvPr id="12" name="Text 9"/>
          <p:cNvSpPr/>
          <p:nvPr/>
        </p:nvSpPr>
        <p:spPr>
          <a:xfrm>
            <a:off x="621792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Terminal-Bench (top config)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3504" y="4270248"/>
            <a:ext cx="1819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feature-complete: sub-agents, hooks, skills, MCP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 “most loved” — Pragmatic Engineer survey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$20–$200/mo plans · Claude models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15768" y="1874520"/>
            <a:ext cx="2148840" cy="4160520"/>
          </a:xfrm>
          <a:prstGeom prst="roundRect">
            <a:avLst>
              <a:gd name="adj" fmla="val 3830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16936" y="2093976"/>
            <a:ext cx="457200" cy="457200"/>
          </a:xfrm>
          <a:prstGeom prst="ellipse">
            <a:avLst/>
          </a:prstGeom>
          <a:solidFill>
            <a:srgbClr val="33C79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2212848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16936" y="2679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2916936" y="30449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916936" y="3355848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33C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3500" dirty="0"/>
          </a:p>
        </p:txBody>
      </p:sp>
      <p:sp>
        <p:nvSpPr>
          <p:cNvPr id="20" name="Text 16"/>
          <p:cNvSpPr/>
          <p:nvPr/>
        </p:nvSpPr>
        <p:spPr>
          <a:xfrm>
            <a:off x="2916936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Terminal-Bench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898648" y="4270248"/>
            <a:ext cx="1819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Truly open source (Apache 2.0, Rust)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sandboxing — Docker exec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w/ ChatGPT plans · Ollama local models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010912" y="1874520"/>
            <a:ext cx="2148840" cy="4160520"/>
          </a:xfrm>
          <a:prstGeom prst="roundRect">
            <a:avLst>
              <a:gd name="adj" fmla="val 3830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212080" y="2093976"/>
            <a:ext cx="457200" cy="457200"/>
          </a:xfrm>
          <a:prstGeom prst="ellipse">
            <a:avLst/>
          </a:prstGeom>
          <a:solidFill>
            <a:srgbClr val="7AA7F8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2212848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12080" y="2679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CLI</a:t>
            </a:r>
            <a:endParaRPr lang="en-US" sz="2100" dirty="0"/>
          </a:p>
        </p:txBody>
      </p:sp>
      <p:sp>
        <p:nvSpPr>
          <p:cNvPr id="26" name="Text 21"/>
          <p:cNvSpPr/>
          <p:nvPr/>
        </p:nvSpPr>
        <p:spPr>
          <a:xfrm>
            <a:off x="5212080" y="30449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212080" y="3355848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7AA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3500" dirty="0"/>
          </a:p>
        </p:txBody>
      </p:sp>
      <p:sp>
        <p:nvSpPr>
          <p:cNvPr id="28" name="Text 23"/>
          <p:cNvSpPr/>
          <p:nvPr/>
        </p:nvSpPr>
        <p:spPr>
          <a:xfrm>
            <a:off x="5212080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requests / day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5193792" y="4270248"/>
            <a:ext cx="1819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managed option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is Flash-only since Mar 2026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· deep Workspace ties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7306056" y="1874520"/>
            <a:ext cx="2148840" cy="4160520"/>
          </a:xfrm>
          <a:prstGeom prst="roundRect">
            <a:avLst>
              <a:gd name="adj" fmla="val 3830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507224" y="2093976"/>
            <a:ext cx="457200" cy="457200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2212848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07224" y="2679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Droid</a:t>
            </a:r>
            <a:endParaRPr lang="en-US" sz="2100" dirty="0"/>
          </a:p>
        </p:txBody>
      </p:sp>
      <p:sp>
        <p:nvSpPr>
          <p:cNvPr id="34" name="Text 28"/>
          <p:cNvSpPr/>
          <p:nvPr/>
        </p:nvSpPr>
        <p:spPr>
          <a:xfrm>
            <a:off x="7507224" y="30449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7507224" y="3355848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SDLC</a:t>
            </a:r>
            <a:endParaRPr lang="en-US" sz="3500" dirty="0"/>
          </a:p>
        </p:txBody>
      </p:sp>
      <p:sp>
        <p:nvSpPr>
          <p:cNvPr id="36" name="Text 30"/>
          <p:cNvSpPr/>
          <p:nvPr/>
        </p:nvSpPr>
        <p:spPr>
          <a:xfrm>
            <a:off x="7507224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multi-agent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7488936" y="4270248"/>
            <a:ext cx="1819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Droid architecture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/ GitHub / Slack built in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team workflows, not solo hacking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9601200" y="1874520"/>
            <a:ext cx="2148840" cy="4160520"/>
          </a:xfrm>
          <a:prstGeom prst="roundRect">
            <a:avLst>
              <a:gd name="adj" fmla="val 3830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9802368" y="2093976"/>
            <a:ext cx="457200" cy="457200"/>
          </a:xfrm>
          <a:prstGeom prst="ellipse">
            <a:avLst/>
          </a:prstGeom>
          <a:solidFill>
            <a:srgbClr val="B79CF6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2212848"/>
            <a:ext cx="219456" cy="21945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802368" y="26791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2100" dirty="0"/>
          </a:p>
        </p:txBody>
      </p:sp>
      <p:sp>
        <p:nvSpPr>
          <p:cNvPr id="42" name="Text 35"/>
          <p:cNvSpPr/>
          <p:nvPr/>
        </p:nvSpPr>
        <p:spPr>
          <a:xfrm>
            <a:off x="9802368" y="304495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indie / minimal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9802368" y="3355848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B79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22×</a:t>
            </a:r>
            <a:endParaRPr lang="en-US" sz="3500" dirty="0"/>
          </a:p>
        </p:txBody>
      </p:sp>
      <p:sp>
        <p:nvSpPr>
          <p:cNvPr id="44" name="Text 37"/>
          <p:cNvSpPr/>
          <p:nvPr/>
        </p:nvSpPr>
        <p:spPr>
          <a:xfrm>
            <a:off x="9802368" y="39227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prompt vs Codex CLI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9784080" y="4270248"/>
            <a:ext cx="18196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Tiny, near-static system prompt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BYOK — bring any model</a:t>
            </a:r>
            <a:endParaRPr lang="en-US" sz="10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Bet: the model is the product, not the harness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5943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 the race: Cursor 3 (best supervised IDE agent), Amp, OpenCode, Aider — nine serious harnesses as of May 2026.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9D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03 · AGENT FRAMEWORKS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agents: the Claw era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personal agents you run yourself — reachable over WhatsApp, Telegram, Slack — plus the security trade-offs that come with them.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LONGMONT AI MEETUP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3611880" cy="3383280"/>
          </a:xfrm>
          <a:prstGeom prst="roundRect">
            <a:avLst>
              <a:gd name="adj" fmla="val 2432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112264"/>
            <a:ext cx="475488" cy="475488"/>
          </a:xfrm>
          <a:prstGeom prst="ellipse">
            <a:avLst/>
          </a:prstGeom>
          <a:solidFill>
            <a:srgbClr val="FFB45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299" y="2235891"/>
            <a:ext cx="228234" cy="2282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21122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444752" y="24963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· ex-Moltbot (Steinberger)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4672" y="28437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361K+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804672" y="33924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stars — biggest ecosystem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6384" y="3739896"/>
            <a:ext cx="31912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TypeScript/Node · 5,700+ community skills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Multi-channel, multi-agent personas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Caution: 3 CVEs + 135K exposed instances in 2026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79976" y="1874520"/>
            <a:ext cx="3611880" cy="3383280"/>
          </a:xfrm>
          <a:prstGeom prst="roundRect">
            <a:avLst>
              <a:gd name="adj" fmla="val 2432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2112264"/>
            <a:ext cx="475488" cy="475488"/>
          </a:xfrm>
          <a:prstGeom prst="ellipse">
            <a:avLst/>
          </a:prstGeom>
          <a:solidFill>
            <a:srgbClr val="B79C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47" y="2235891"/>
            <a:ext cx="228234" cy="2282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48656" y="21122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5257800" y="24963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Research · Feb 2026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17720" y="28437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B79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</a:t>
            </a:r>
            <a:endParaRPr lang="en-US" sz="3300" dirty="0"/>
          </a:p>
        </p:txBody>
      </p:sp>
      <p:sp>
        <p:nvSpPr>
          <p:cNvPr id="20" name="Text 16"/>
          <p:cNvSpPr/>
          <p:nvPr/>
        </p:nvSpPr>
        <p:spPr>
          <a:xfrm>
            <a:off x="4617720" y="33924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self-improving skill loop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99432" y="3739896"/>
            <a:ext cx="31912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&amp; refines its own skills over time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Seven-layer security model, safer defaults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multi-agent orchestration built in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93024" y="1874520"/>
            <a:ext cx="3611880" cy="3383280"/>
          </a:xfrm>
          <a:prstGeom prst="roundRect">
            <a:avLst>
              <a:gd name="adj" fmla="val 2432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430768" y="2112264"/>
            <a:ext cx="475488" cy="475488"/>
          </a:xfrm>
          <a:prstGeom prst="ellipse">
            <a:avLst/>
          </a:prstGeom>
          <a:solidFill>
            <a:srgbClr val="39D7C8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395" y="2235891"/>
            <a:ext cx="228234" cy="22823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61704" y="21122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NanoClaw</a:t>
            </a:r>
            <a:endParaRPr lang="en-US" sz="2300" dirty="0"/>
          </a:p>
        </p:txBody>
      </p:sp>
      <p:sp>
        <p:nvSpPr>
          <p:cNvPr id="26" name="Text 21"/>
          <p:cNvSpPr/>
          <p:nvPr/>
        </p:nvSpPr>
        <p:spPr>
          <a:xfrm>
            <a:off x="9070848" y="249631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Qwibit AI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430768" y="28437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9D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3.9K</a:t>
            </a:r>
            <a:endParaRPr lang="en-US" sz="3300" dirty="0"/>
          </a:p>
        </p:txBody>
      </p:sp>
      <p:sp>
        <p:nvSpPr>
          <p:cNvPr id="28" name="Text 23"/>
          <p:cNvSpPr/>
          <p:nvPr/>
        </p:nvSpPr>
        <p:spPr>
          <a:xfrm>
            <a:off x="8430768" y="33924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 · 15 files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8412480" y="3739896"/>
            <a:ext cx="31912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whole codebase in ~8 minutes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Container-first isolation (Docker / Apple)</a:t>
            </a:r>
            <a:endParaRPr lang="en-US" sz="110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happily on a $3.50/mo VPS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66928" y="5486400"/>
            <a:ext cx="11082528" cy="868680"/>
          </a:xfrm>
          <a:prstGeom prst="roundRect">
            <a:avLst>
              <a:gd name="adj" fmla="val 7368"/>
            </a:avLst>
          </a:prstGeom>
          <a:solidFill>
            <a:srgbClr val="111823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1" name="Text 26"/>
          <p:cNvSpPr/>
          <p:nvPr/>
        </p:nvSpPr>
        <p:spPr>
          <a:xfrm>
            <a:off x="822960" y="56327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9D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ON THE RADAR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822960" y="587044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ZeroClaw</a:t>
            </a:r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local-only, privacy-first      </a:t>
            </a:r>
            <a:pPr indent="0" marL="0">
              <a:buNone/>
            </a:pPr>
            <a:r>
              <a:rPr lang="en-US" sz="115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IronClaw</a:t>
            </a:r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zero-trust, SOC 2 — enterprise      </a:t>
            </a:r>
            <a:pPr indent="0" marL="0">
              <a:buNone/>
            </a:pPr>
            <a:r>
              <a:rPr lang="en-US" sz="115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PicoClaw</a:t>
            </a:r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ultra-light      </a:t>
            </a:r>
            <a:pPr indent="0" marL="0">
              <a:buNone/>
            </a:pPr>
            <a:r>
              <a:rPr lang="en-US" sz="115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Channels</a:t>
            </a:r>
            <a:pPr indent="0" marL="0">
              <a:buNone/>
            </a:pPr>
            <a:r>
              <a:rPr lang="en-US" sz="11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Claude Code via Telegram / Discord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39D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· OPEN WEIGHTS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9509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the frontier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2618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open-weight models on Hugging Face / Ollama — the open-vs-closed gap has nearly closed for coding.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509760" y="347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5C6B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LONGMONT AI MEETUP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121408"/>
            <a:ext cx="128016" cy="128016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197510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 K2.6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0704" y="23317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Moonshot AI · Modified MIT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852928" y="195681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B4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4672" y="26974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LiveBench coding — open-weights leader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3108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variant · built for sub-agent parallelism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79976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2121408"/>
            <a:ext cx="128016" cy="128016"/>
          </a:xfrm>
          <a:prstGeom prst="ellipse">
            <a:avLst/>
          </a:prstGeom>
          <a:solidFill>
            <a:srgbClr val="7AA7F8"/>
          </a:solidFill>
          <a:ln/>
        </p:spPr>
      </p:sp>
      <p:sp>
        <p:nvSpPr>
          <p:cNvPr id="15" name="Text 13"/>
          <p:cNvSpPr/>
          <p:nvPr/>
        </p:nvSpPr>
        <p:spPr>
          <a:xfrm>
            <a:off x="4855464" y="197510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73752" y="23317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· MIT · 1M ctx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65976" y="195681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7AA7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1.6T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17720" y="26974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 (49B active) · Pro + 284B Flash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17720" y="3108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from $0.44/$0.87 — the pricing earthquake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193024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30768" y="2121408"/>
            <a:ext cx="128016" cy="128016"/>
          </a:xfrm>
          <a:prstGeom prst="ellipse">
            <a:avLst/>
          </a:prstGeom>
          <a:solidFill>
            <a:srgbClr val="33C79F"/>
          </a:solidFill>
          <a:ln/>
        </p:spPr>
      </p:sp>
      <p:sp>
        <p:nvSpPr>
          <p:cNvPr id="22" name="Text 20"/>
          <p:cNvSpPr/>
          <p:nvPr/>
        </p:nvSpPr>
        <p:spPr>
          <a:xfrm>
            <a:off x="8668512" y="197510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GLM-5.1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0" y="23317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Z.ai (Zhipu) · MIT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479024" y="195681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3C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430768" y="26974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SWE-Bench Pro among open models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30768" y="31089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agentic iteration over 1,000s of tool calls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" y="37947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4672" y="4087368"/>
            <a:ext cx="128016" cy="128016"/>
          </a:xfrm>
          <a:prstGeom prst="ellipse">
            <a:avLst/>
          </a:prstGeom>
          <a:solidFill>
            <a:srgbClr val="B79CF6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" y="39410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60704" y="42976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Alibaba · Apache 2.0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52928" y="392277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79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27B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04672" y="46634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+ 35B-A3B — best practical local picks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4672" y="5074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35B-A3B: 49.5 SWE-Bench Pro, 51.5 Terminal-Bench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79976" y="37947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4087368"/>
            <a:ext cx="128016" cy="128016"/>
          </a:xfrm>
          <a:prstGeom prst="ellipse">
            <a:avLst/>
          </a:prstGeom>
          <a:solidFill>
            <a:srgbClr val="E08A5E"/>
          </a:solidFill>
          <a:ln/>
        </p:spPr>
      </p:sp>
      <p:sp>
        <p:nvSpPr>
          <p:cNvPr id="36" name="Text 34"/>
          <p:cNvSpPr/>
          <p:nvPr/>
        </p:nvSpPr>
        <p:spPr>
          <a:xfrm>
            <a:off x="4855464" y="39410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M3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873752" y="42976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· just dropped (Jun 2026)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665976" y="392277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08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4617720" y="46634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top-tier agentic coding entrant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17720" y="5074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M2.5 remains a strong free hosted option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193024" y="379476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151D29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430768" y="4087368"/>
            <a:ext cx="128016" cy="128016"/>
          </a:xfrm>
          <a:prstGeom prst="ellipse">
            <a:avLst/>
          </a:prstGeom>
          <a:solidFill>
            <a:srgbClr val="39D7C8"/>
          </a:solidFill>
          <a:ln/>
        </p:spPr>
      </p:sp>
      <p:sp>
        <p:nvSpPr>
          <p:cNvPr id="43" name="Text 41"/>
          <p:cNvSpPr/>
          <p:nvPr/>
        </p:nvSpPr>
        <p:spPr>
          <a:xfrm>
            <a:off x="8668512" y="39410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3F6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686800" y="429768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· open weights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479024" y="392277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39D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31B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8430768" y="46634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on-device / edge champion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430768" y="507492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A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small-hardware pick alongside Mistral Small 4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66928" y="5742432"/>
            <a:ext cx="11082528" cy="713232"/>
          </a:xfrm>
          <a:prstGeom prst="roundRect">
            <a:avLst>
              <a:gd name="adj" fmla="val 8974"/>
            </a:avLst>
          </a:prstGeom>
          <a:solidFill>
            <a:srgbClr val="12241F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22960" y="5870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D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A DGX SPARK (128 GB):  </a:t>
            </a:r>
            <a:pPr indent="0" marL="0">
              <a:buNone/>
            </a:pPr>
            <a:r>
              <a:rPr lang="en-US" sz="1200" dirty="0">
                <a:solidFill>
                  <a:srgbClr val="C5CE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3.6 27B / 35B-A3B  ·  Gemma 4 31B  ·  Mistral Small 4  ·  smaller quantized variants of the giants via Ollama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Landscape — June 2026</dc:title>
  <dc:subject>PptxGenJS Presentation</dc:subject>
  <dc:creator>Mike Morahan</dc:creator>
  <cp:lastModifiedBy>Mike Morahan</cp:lastModifiedBy>
  <cp:revision>1</cp:revision>
  <dcterms:created xsi:type="dcterms:W3CDTF">2026-06-10T17:24:28Z</dcterms:created>
  <dcterms:modified xsi:type="dcterms:W3CDTF">2026-06-10T17:24:28Z</dcterms:modified>
</cp:coreProperties>
</file>