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152de0e14434739" /><Relationship Type="http://schemas.openxmlformats.org/officeDocument/2006/relationships/extended-properties" Target="/docProps/app.xml" Id="R9f04eddef3c944eb" /><Relationship Type="http://schemas.openxmlformats.org/officeDocument/2006/relationships/officeDocument" Target="/ppt/presentation.xml" Id="R148f221307f84d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762cbf36f64052"/>
  </p:sldMasterIdLst>
  <p:notesMasterIdLst>
    <p:notesMasterId xmlns:r="http://schemas.openxmlformats.org/officeDocument/2006/relationships" r:id="R727e972872dd4ecd"/>
  </p:notesMasterIdLst>
  <p:sldIdLst>
    <p:sldId xmlns:r="http://schemas.openxmlformats.org/officeDocument/2006/relationships" id="256" r:id="Rca419f15aa054f38"/>
    <p:sldId xmlns:r="http://schemas.openxmlformats.org/officeDocument/2006/relationships" id="257" r:id="R9f0369f068be4c77"/>
    <p:sldId xmlns:r="http://schemas.openxmlformats.org/officeDocument/2006/relationships" id="258" r:id="R76231720de0b4a37"/>
    <p:sldId xmlns:r="http://schemas.openxmlformats.org/officeDocument/2006/relationships" id="259" r:id="Rd281b1920b14431c"/>
    <p:sldId xmlns:r="http://schemas.openxmlformats.org/officeDocument/2006/relationships" id="260" r:id="Rac5653c089a24ae3"/>
    <p:sldId xmlns:r="http://schemas.openxmlformats.org/officeDocument/2006/relationships" id="261" r:id="R2f1a1fe894f14bb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846bced4814d22" /><Relationship Type="http://schemas.openxmlformats.org/officeDocument/2006/relationships/slideMaster" Target="/ppt/slideMasters/slideMaster1.xml" Id="R85762cbf36f64052" /><Relationship Type="http://schemas.openxmlformats.org/officeDocument/2006/relationships/notesMaster" Target="/ppt/notesMasters/notesMaster1.xml" Id="R727e972872dd4ecd" /><Relationship Type="http://schemas.openxmlformats.org/officeDocument/2006/relationships/presProps" Target="/ppt/presProps.xml" Id="Rd46709a5504f4b86" /><Relationship Type="http://schemas.openxmlformats.org/officeDocument/2006/relationships/tableStyles" Target="/ppt/tableStyles.xml" Id="Reefe7bcd4eae49f4" /><Relationship Type="http://schemas.openxmlformats.org/officeDocument/2006/relationships/slide" Target="/ppt/slides/slide1.xml" Id="Rca419f15aa054f38" /><Relationship Type="http://schemas.openxmlformats.org/officeDocument/2006/relationships/slide" Target="/ppt/slides/slide2.xml" Id="R9f0369f068be4c77" /><Relationship Type="http://schemas.openxmlformats.org/officeDocument/2006/relationships/slide" Target="/ppt/slides/slide3.xml" Id="R76231720de0b4a37" /><Relationship Type="http://schemas.openxmlformats.org/officeDocument/2006/relationships/slide" Target="/ppt/slides/slide4.xml" Id="Rd281b1920b14431c" /><Relationship Type="http://schemas.openxmlformats.org/officeDocument/2006/relationships/slide" Target="/ppt/slides/slide5.xml" Id="Rac5653c089a24ae3" /><Relationship Type="http://schemas.openxmlformats.org/officeDocument/2006/relationships/slide" Target="/ppt/slides/slide6.xml" Id="R2f1a1fe894f14b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4bc9bee50a46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e7f884299e453b" /><Relationship Type="http://schemas.openxmlformats.org/officeDocument/2006/relationships/notesMaster" Target="/ppt/notesMasters/notesMaster1.xml" Id="Rb4cf9dccbbba48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54f7c7e2ed4f01" /><Relationship Type="http://schemas.openxmlformats.org/officeDocument/2006/relationships/notesMaster" Target="/ppt/notesMasters/notesMaster1.xml" Id="R7444c5e5bad54a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be85795d604a1c" /><Relationship Type="http://schemas.openxmlformats.org/officeDocument/2006/relationships/notesMaster" Target="/ppt/notesMasters/notesMaster1.xml" Id="R5c5c15e5be5249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416f08e0d144ac" /><Relationship Type="http://schemas.openxmlformats.org/officeDocument/2006/relationships/notesMaster" Target="/ppt/notesMasters/notesMaster1.xml" Id="R214f49ff409440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967bd141004f13" /><Relationship Type="http://schemas.openxmlformats.org/officeDocument/2006/relationships/notesMaster" Target="/ppt/notesMasters/notesMaster1.xml" Id="Rb0a7ce99134944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d2d8a097084b75" /><Relationship Type="http://schemas.openxmlformats.org/officeDocument/2006/relationships/notesMaster" Target="/ppt/notesMasters/notesMaster1.xml" Id="Rcf1600d416a745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761f9246fc4a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edb7bcf53f482e" /><Relationship Type="http://schemas.openxmlformats.org/officeDocument/2006/relationships/slideLayout" Target="/ppt/slideLayouts/slideLayout1.xml" Id="R72e2bdfaf9164d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e2bdfaf9164d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f577926c640b2" /><Relationship Type="http://schemas.openxmlformats.org/officeDocument/2006/relationships/notesSlide" Target="/ppt/notesSlides/notesSlide1.xml" Id="R660288dfe6384b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76fc8052e49b4" /><Relationship Type="http://schemas.openxmlformats.org/officeDocument/2006/relationships/notesSlide" Target="/ppt/notesSlides/notesSlide2.xml" Id="R7b89f7b39b4e40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482c307ed4aed" /><Relationship Type="http://schemas.openxmlformats.org/officeDocument/2006/relationships/image" Target="/ppt/media/image.png" Id="R29681b74c29b4216" /><Relationship Type="http://schemas.openxmlformats.org/officeDocument/2006/relationships/notesSlide" Target="/ppt/notesSlides/notesSlide3.xml" Id="R290b354a761b4d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19815e5e84796" /><Relationship Type="http://schemas.openxmlformats.org/officeDocument/2006/relationships/image" Target="/ppt/media/image2.png" Id="R1b42602c23a34797" /><Relationship Type="http://schemas.openxmlformats.org/officeDocument/2006/relationships/notesSlide" Target="/ppt/notesSlides/notesSlide4.xml" Id="R5d51f1629d1a46a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112f047f74a02" /><Relationship Type="http://schemas.openxmlformats.org/officeDocument/2006/relationships/notesSlide" Target="/ppt/notesSlides/notesSlide5.xml" Id="R414aa199c6b046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a140f4eae54b5f" /><Relationship Type="http://schemas.openxmlformats.org/officeDocument/2006/relationships/image" Target="/ppt/media/image.jpeg" Id="R1cb15db407f840d7" /><Relationship Type="http://schemas.openxmlformats.org/officeDocument/2006/relationships/notesSlide" Target="/ppt/notesSlides/notesSlide6.xml" Id="R585298002e7442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1E16BF-17B7-4DB6-892D-778732E18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8180A-4B58-4FA8-A32F-BE8666CA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F0"/>
                </a:solidFill>
              </a:defRPr>
            </a:pPr>
            <a:r>
              <a:rPr sz="975" b="1">
                <a:solidFill>
                  <a:srgbClr val="007CF0"/>
                </a:solidFill>
              </a:rPr>
              <a:t>THE JULY RELEASE BRIEFING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A924B-58E0-4099-8DE4-160D3701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LONGMONT AI | JULY 22,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4E274-B13C-4C13-ADB5-F5CAF312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960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866185-9ADD-4B3F-B4D3-94AFE59A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9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4F4F5"/>
                </a:solidFill>
              </a:defRPr>
            </a:pPr>
            <a:r>
              <a:rPr sz="3900" b="1">
                <a:solidFill>
                  <a:srgbClr val="F4F4F5"/>
                </a:solidFill>
              </a:rPr>
              <a:t>The Efficiency Frontier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9B870-D2CF-4B1B-82BD-F90957AC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1A1AA"/>
                </a:solidFill>
              </a:defRPr>
            </a:pPr>
            <a:r>
              <a:rPr sz="1650" b="0">
                <a:solidFill>
                  <a:srgbClr val="A1A1AA"/>
                </a:solidFill>
              </a:rPr>
              <a:t>Choose the configuration that clears the bar with the least total cost, time, and access risk.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7B0512-A826-44C3-8001-13437CD1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7905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F4F5"/>
                </a:solidFill>
              </a:defRPr>
            </a:pPr>
            <a:r>
              <a:rPr sz="2250" b="1">
                <a:solidFill>
                  <a:srgbClr val="F4F4F5"/>
                </a:solidFill>
              </a:rPr>
              <a:t>A model is on the frontier when no available alternative matches its outcomes while improving at least one of quality, cost, speed, reliability, or access.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C666A-7BA2-4A26-822B-7F9BDB18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6762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AF925-48C5-491F-93B2-D2E25CE1C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1A1AA"/>
                </a:solidFill>
              </a:defRPr>
            </a:pPr>
            <a:r>
              <a:rPr sz="1500" b="0">
                <a:solidFill>
                  <a:srgbClr val="A1A1AA"/>
                </a:solidFill>
              </a:rPr>
              <a:t>Grok 4.5 | Muse Spark 1.1 | Fable 5 redeployed | GPT-5.6 Sol, Terra, Luna</a:t>
            </a:r>
          </a:p>
        </p:txBody>
      </p:sp>
    </p:spTree>
    <p:extLst>
      <p:ext uri="{BB962C8B-B14F-4D97-AF65-F5344CB8AC3E}">
        <p14:creationId xmlns:p14="http://schemas.microsoft.com/office/powerpoint/2010/main" val="11551486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E382C6-C31C-4EC3-B2C7-873A6369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E6BD9-AC77-4E7A-81D2-01F0911F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F0"/>
                </a:solidFill>
              </a:defRPr>
            </a:pPr>
            <a:r>
              <a:rPr sz="975" b="1">
                <a:solidFill>
                  <a:srgbClr val="007CF0"/>
                </a:solidFill>
              </a:rPr>
              <a:t>RELEASE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46CBC-BA1B-4F4F-A08E-8B0451B1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LONGMONT AI | JULY 22,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5412E-F9BA-43D3-9123-1DB3747B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960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C2CDF-E327-40FB-B818-3248C713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9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4F4F5"/>
                </a:solidFill>
              </a:defRPr>
            </a:pPr>
            <a:r>
              <a:rPr sz="3900" b="1">
                <a:solidFill>
                  <a:srgbClr val="F4F4F5"/>
                </a:solidFill>
              </a:rPr>
              <a:t>Four releases, one routing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2D103-A417-4029-9E6A-8EFB9D6D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1A1AA"/>
                </a:solidFill>
              </a:defRPr>
            </a:pPr>
            <a:r>
              <a:rPr sz="1650" b="0">
                <a:solidFill>
                  <a:srgbClr val="A1A1AA"/>
                </a:solidFill>
              </a:rPr>
              <a:t>The practical unit is model plus effort setting plus harness, not the model name alone.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FD61B3-64F2-4B54-8EDF-4EBD63E3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5074A7-01C9-4DA2-8BF8-1C3CD8B8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62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4F5"/>
                </a:solidFill>
              </a:defRPr>
            </a:pPr>
            <a:r>
              <a:rPr sz="1950" b="1">
                <a:solidFill>
                  <a:srgbClr val="F4F4F5"/>
                </a:solidFill>
              </a:rPr>
              <a:t>Grok 4.5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3828B-AA55-4A7B-AB4A-383825D0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90875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1A1AA"/>
                </a:solidFill>
              </a:defRPr>
            </a:pPr>
            <a:r>
              <a:rPr sz="1500" b="0">
                <a:solidFill>
                  <a:srgbClr val="A1A1AA"/>
                </a:solidFill>
              </a:rPr>
              <a:t>Coding and agentic-work flagship; speed and token efficiency are the claim.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BF03B-0C00-4A67-9259-9CB1FD61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9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A783B3-9443-47DC-AC4E-3AB38053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052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4F5"/>
                </a:solidFill>
              </a:defRPr>
            </a:pPr>
            <a:r>
              <a:rPr sz="1950" b="1">
                <a:solidFill>
                  <a:srgbClr val="F4F4F5"/>
                </a:solidFill>
              </a:rPr>
              <a:t>Muse Spark 1.1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2525DF-6088-4CC1-9F6B-5FC7D6D0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33825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1A1AA"/>
                </a:solidFill>
              </a:defRPr>
            </a:pPr>
            <a:r>
              <a:rPr sz="1500" b="0">
                <a:solidFill>
                  <a:srgbClr val="A1A1AA"/>
                </a:solidFill>
              </a:rPr>
              <a:t>Multimodal agent reasoning, new Meta Model API preview, parallel subagents.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AAC788-6F05-42E5-AB4A-A5804346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2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ED154-1CC8-4B59-990F-306A49DA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482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4F5"/>
                </a:solidFill>
              </a:defRPr>
            </a:pPr>
            <a:r>
              <a:rPr sz="1950" b="1">
                <a:solidFill>
                  <a:srgbClr val="F4F4F5"/>
                </a:solidFill>
              </a:rPr>
              <a:t>Claude Fable 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46BF2E-F643-4CE9-803F-E263783E9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676775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1A1AA"/>
                </a:solidFill>
              </a:defRPr>
            </a:pPr>
            <a:r>
              <a:rPr sz="1500" b="0">
                <a:solidFill>
                  <a:srgbClr val="A1A1AA"/>
                </a:solidFill>
              </a:rPr>
              <a:t>Redeployed after access disruption; availability is part of operational value.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D967B7-D973-412C-BFCC-E068BD4F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72100"/>
            <a:ext cx="95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4291F2-4325-404A-AF31-3FEE7734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911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4F5"/>
                </a:solidFill>
              </a:defRPr>
            </a:pPr>
            <a:r>
              <a:rPr sz="1950" b="1">
                <a:solidFill>
                  <a:srgbClr val="F4F4F5"/>
                </a:solidFill>
              </a:rPr>
              <a:t>GPT-5.6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F8BD81-4794-4082-BD0B-2DB7AF01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19725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1A1AA"/>
                </a:solidFill>
              </a:defRPr>
            </a:pPr>
            <a:r>
              <a:rPr sz="1500" b="0">
                <a:solidFill>
                  <a:srgbClr val="A1A1AA"/>
                </a:solidFill>
              </a:rPr>
              <a:t>Sol for maximum capability, Terra for balance, Luna for efficient scale.</a:t>
            </a:r>
          </a:p>
        </p:txBody>
      </p:sp>
    </p:spTree>
    <p:extLst>
      <p:ext uri="{BB962C8B-B14F-4D97-AF65-F5344CB8AC3E}">
        <p14:creationId xmlns:p14="http://schemas.microsoft.com/office/powerpoint/2010/main" val="16948757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907E51-1681-4279-BF27-0685A8C4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960C2-F89F-4AB9-ADFB-14F640DB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F0"/>
                </a:solidFill>
              </a:defRPr>
            </a:pPr>
            <a:r>
              <a:rPr sz="975" b="1">
                <a:solidFill>
                  <a:srgbClr val="007CF0"/>
                </a:solidFill>
              </a:rPr>
              <a:t>EVIDENCE: INDEPENDENT TASK-COST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8785B-5878-4CE7-AF2C-A79F51EC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LONGMONT AI | JULY 22,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F8ADB3-1FB0-47D6-B186-186532FA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960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FB643-C519-4520-9401-5382A9BE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9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4F4F5"/>
                </a:solidFill>
              </a:defRPr>
            </a:pPr>
            <a:r>
              <a:rPr sz="3900" b="1">
                <a:solidFill>
                  <a:srgbClr val="F4F4F5"/>
                </a:solidFill>
              </a:rPr>
              <a:t>The useful dots are high and left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8040D-185F-430F-8853-864CDF6D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1A1AA"/>
                </a:solidFill>
              </a:defRPr>
            </a:pPr>
            <a:r>
              <a:rPr sz="1650" b="0">
                <a:solidFill>
                  <a:srgbClr val="A1A1AA"/>
                </a:solidFill>
              </a:rPr>
              <a:t>A snapshot can create a shortlist. Your own evaluation decides whether a dot belongs in production.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7F04E9-3782-4E22-8CDA-4FF92B7E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81b74c29b4216"/>
          <a:stretch xmlns:a="http://schemas.openxmlformats.org/drawingml/2006/main"/>
        </p:blipFill>
        <p:spPr>
          <a:xfrm xmlns:a="http://schemas.openxmlformats.org/drawingml/2006/main">
            <a:off x="3594735" y="3009900"/>
            <a:ext cx="5002530" cy="2724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1590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FCD313-8750-4DDB-A131-ED6ED912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12148-CFF6-4988-AD1C-B82FFADA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F0"/>
                </a:solidFill>
              </a:defRPr>
            </a:pPr>
            <a:r>
              <a:rPr sz="975" b="1">
                <a:solidFill>
                  <a:srgbClr val="007CF0"/>
                </a:solidFill>
              </a:rPr>
              <a:t>EVIDENCE: COST IS NOT A FOOTNOTE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D4319E-1E03-44F0-A26C-5BFFBCEC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LONGMONT AI | JULY 22,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A41EE8-FC2B-4BB0-BC4A-096212396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960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383DEF-5556-48FD-A32D-BF32A3244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9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4F4F5"/>
                </a:solidFill>
              </a:defRPr>
            </a:pPr>
            <a:r>
              <a:rPr sz="3900" b="1">
                <a:solidFill>
                  <a:srgbClr val="F4F4F5"/>
                </a:solidFill>
              </a:rPr>
              <a:t>Score only answers half the question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47016-DF4B-43AD-9C69-3792CDFA3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1A1AA"/>
                </a:solidFill>
              </a:defRPr>
            </a:pPr>
            <a:r>
              <a:rPr sz="1650" b="0">
                <a:solidFill>
                  <a:srgbClr val="A1A1AA"/>
                </a:solidFill>
              </a:rPr>
              <a:t>A benchmark result changes when model effort, output tokens, agent steps, or the task harness changes.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6302FE-3207-4E6A-A355-288B13AA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6172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2602c23a34797"/>
          <a:stretch xmlns:a="http://schemas.openxmlformats.org/drawingml/2006/main"/>
        </p:blipFill>
        <p:spPr>
          <a:xfrm xmlns:a="http://schemas.openxmlformats.org/drawingml/2006/main">
            <a:off x="2455495" y="3067050"/>
            <a:ext cx="2632810" cy="25527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057A7-291F-44C6-A104-B010C55BC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385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CF0"/>
                </a:solidFill>
              </a:defRPr>
            </a:pPr>
            <a:r>
              <a:rPr sz="1950" b="1">
                <a:solidFill>
                  <a:srgbClr val="007CF0"/>
                </a:solidFill>
              </a:rPr>
              <a:t>Decision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BB3394-2FBC-4647-9EA0-C9A1BD1D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52850"/>
            <a:ext cx="3333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4F5"/>
                </a:solidFill>
              </a:defRPr>
            </a:pPr>
            <a:r>
              <a:rPr sz="1875" b="1">
                <a:solidFill>
                  <a:srgbClr val="F4F4F5"/>
                </a:solidFill>
              </a:rPr>
              <a:t>Pick the least-expensive available configuration that passes a shared acceptance test. Compare models with a fixed harness, then compare harnesses separately.</a:t>
            </a:r>
          </a:p>
        </p:txBody>
      </p:sp>
    </p:spTree>
    <p:extLst>
      <p:ext uri="{BB962C8B-B14F-4D97-AF65-F5344CB8AC3E}">
        <p14:creationId xmlns:p14="http://schemas.microsoft.com/office/powerpoint/2010/main" val="11291686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438602-B304-4F6F-BC10-EC102F32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2D164-1C37-4719-8FCF-24ECCE01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F0"/>
                </a:solidFill>
              </a:defRPr>
            </a:pPr>
            <a:r>
              <a:rPr sz="975" b="1">
                <a:solidFill>
                  <a:srgbClr val="007CF0"/>
                </a:solidFill>
              </a:rPr>
              <a:t>DEEPSWE V1.1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CC285F-A5FC-4050-A7A0-902C6B76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LONGMONT AI | JULY 22,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12E56-8A4B-4224-B4D6-1139AA3E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960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CEA96-B730-45CF-9888-533A1196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9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4F4F5"/>
                </a:solidFill>
              </a:defRPr>
            </a:pPr>
            <a:r>
              <a:rPr sz="3900" b="1">
                <a:solidFill>
                  <a:srgbClr val="F4F4F5"/>
                </a:solidFill>
              </a:rPr>
              <a:t>The coding frontier is a tradeoff cloud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6031B-2C82-4BA7-8F8A-E7A18576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1A1AA"/>
                </a:solidFill>
              </a:defRPr>
            </a:pPr>
            <a:r>
              <a:rPr sz="1650" b="0">
                <a:solidFill>
                  <a:srgbClr val="A1A1AA"/>
                </a:solidFill>
              </a:rPr>
              <a:t>A common long-horizon harness makes the comparison more useful, but it does not replace a local acceptance set.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E141C-7C56-4056-B41C-D5184EF4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2343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EB9E4-2E10-42FA-A718-086E7346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040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F170A6-9885-4F15-8089-2C7411E1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</a:defRPr>
            </a:pPr>
            <a:r>
              <a:rPr sz="1650" b="1">
                <a:solidFill>
                  <a:srgbClr val="F4F4F5"/>
                </a:solidFill>
              </a:rPr>
              <a:t>GPT-5.6 Sol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11224-EDC5-4075-851D-4FA71C52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7CF0"/>
                </a:solidFill>
              </a:defRPr>
            </a:pPr>
            <a:r>
              <a:rPr sz="2025" b="1">
                <a:solidFill>
                  <a:srgbClr val="007CF0"/>
                </a:solidFill>
              </a:rPr>
              <a:t>73% +/- 3%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546BE0-7016-4CC7-930A-C1FAFDB1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$8.39 average cost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04BED-01C4-42DF-90E4-D84AA480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00400"/>
            <a:ext cx="2343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A103D-B405-4B41-9794-E95B5B0A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0040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2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C7DD1F-D43E-4988-A957-A479B99F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24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</a:defRPr>
            </a:pPr>
            <a:r>
              <a:rPr sz="1650" b="1">
                <a:solidFill>
                  <a:srgbClr val="F4F4F5"/>
                </a:solidFill>
              </a:rPr>
              <a:t>Claude Fable 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7D231-6BE6-4794-BB1F-D768D3F3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19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72B6"/>
                </a:solidFill>
              </a:defRPr>
            </a:pPr>
            <a:r>
              <a:rPr sz="2025" b="1">
                <a:solidFill>
                  <a:srgbClr val="F472B6"/>
                </a:solidFill>
              </a:rPr>
              <a:t>70% +/- 4%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B99D11-21F7-4596-BA84-88C7D2FF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76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$21.63 average cost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5C324B-1D23-4944-8891-564F0F7D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00400"/>
            <a:ext cx="2343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93206-4049-49D4-8593-8CA26C27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0040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D9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A22672-8AEE-4B17-AA7E-0349D9DC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24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</a:defRPr>
            </a:pPr>
            <a:r>
              <a:rPr sz="1650" b="1">
                <a:solidFill>
                  <a:srgbClr val="F4F4F5"/>
                </a:solidFill>
              </a:rPr>
              <a:t>GPT-5.6 Terra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E62DE7-7E71-45B6-B1BC-6DE3BDE5E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19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D99E"/>
                </a:solidFill>
              </a:defRPr>
            </a:pPr>
            <a:r>
              <a:rPr sz="2025" b="1">
                <a:solidFill>
                  <a:srgbClr val="37D99E"/>
                </a:solidFill>
              </a:rPr>
              <a:t>70% +/- 3%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1FB985-6FC1-4FC1-B60B-6EDD3675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76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$4.95 average cost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0FBF32-6925-4E90-B1F1-33F7DB43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00400"/>
            <a:ext cx="2343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B7AA4E-EC5B-4E42-A678-A5FFBB11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00400"/>
            <a:ext cx="2343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8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FAB4C4-2F3D-431F-8BE0-AA6CC3E3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5242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4F5"/>
                </a:solidFill>
              </a:defRPr>
            </a:pPr>
            <a:r>
              <a:rPr sz="1650" b="1">
                <a:solidFill>
                  <a:srgbClr val="F4F4F5"/>
                </a:solidFill>
              </a:rPr>
              <a:t>GPT-5.6 Luna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EFCDB8-E133-416F-93EB-95466C0C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19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C86A"/>
                </a:solidFill>
              </a:defRPr>
            </a:pPr>
            <a:r>
              <a:rPr sz="2025" b="1">
                <a:solidFill>
                  <a:srgbClr val="F5C86A"/>
                </a:solidFill>
              </a:rPr>
              <a:t>67% +/- 4%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CD741C-1D10-4D26-A590-6FF300E2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4767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$3.03 average cost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A14ADD-D5A1-48DF-A6D6-EDD966E4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9115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1A1AA"/>
                </a:solidFill>
              </a:defRPr>
            </a:pPr>
            <a:r>
              <a:rPr sz="1200" b="0">
                <a:solidFill>
                  <a:srgbClr val="A1A1AA"/>
                </a:solidFill>
              </a:rPr>
              <a:t>Source: DeepSWE v1.1 leaderboard, July 13, 2026. Scores are not cross-task guarantees.</a:t>
            </a:r>
          </a:p>
        </p:txBody>
      </p:sp>
    </p:spTree>
    <p:extLst>
      <p:ext uri="{BB962C8B-B14F-4D97-AF65-F5344CB8AC3E}">
        <p14:creationId xmlns:p14="http://schemas.microsoft.com/office/powerpoint/2010/main" val="3701091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9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16BEFD-5FE3-475F-825F-6E57E8B3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950925-5BF7-413D-A02B-105D5685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CF0"/>
                </a:solidFill>
              </a:defRPr>
            </a:pPr>
            <a:r>
              <a:rPr sz="975" b="1">
                <a:solidFill>
                  <a:srgbClr val="007CF0"/>
                </a:solidFill>
              </a:rPr>
              <a:t>BEYOND TEXT: REAL-TIME AGENTS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F0046A-23DF-4130-B567-BFF21A26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LONGMONT AI | JULY 22,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288473-A6DC-4389-8D34-3E7A1BD1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6496050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1A1AA"/>
                </a:solidFill>
              </a:defRPr>
            </a:pPr>
            <a:r>
              <a:rPr sz="825" b="0">
                <a:solidFill>
                  <a:srgbClr val="A1A1AA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B7878-BF70-462D-AABE-F3946E6C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096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4F4F5"/>
                </a:solidFill>
              </a:defRPr>
            </a:pPr>
            <a:r>
              <a:rPr sz="3900" b="1">
                <a:solidFill>
                  <a:srgbClr val="F4F4F5"/>
                </a:solidFill>
              </a:rPr>
              <a:t>Video agents have a latency budget too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CDA1D-7BB5-4788-AC01-4949D4E5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819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1A1AA"/>
                </a:solidFill>
              </a:defRPr>
            </a:pPr>
            <a:r>
              <a:rPr sz="1650" b="0">
                <a:solidFill>
                  <a:srgbClr val="A1A1AA"/>
                </a:solidFill>
              </a:rPr>
              <a:t>Wan-Streamer v0.2 reports a 640 x 368 interactive stream at 25 FPS with roughly 200 ms model-side latency.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F6EA0F-5B62-41FD-AFC4-21A7728B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0005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B"/>
          </a:solidFill>
          <a:ln xmlns:a="http://schemas.openxmlformats.org/drawingml/2006/main" w="9525">
            <a:solidFill>
              <a:srgbClr val="3F3F46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15db407f840d7"/>
          <a:stretch xmlns:a="http://schemas.openxmlformats.org/drawingml/2006/main"/>
        </p:blipFill>
        <p:spPr>
          <a:xfrm xmlns:a="http://schemas.openxmlformats.org/drawingml/2006/main">
            <a:off x="1553655" y="3105150"/>
            <a:ext cx="2264790" cy="23622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18FE4-FB81-4236-A353-2D22206F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448050"/>
            <a:ext cx="5334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4F4F5"/>
                </a:solidFill>
              </a:defRPr>
            </a:pPr>
            <a:r>
              <a:rPr sz="2325" b="1">
                <a:solidFill>
                  <a:srgbClr val="F4F4F5"/>
                </a:solidFill>
              </a:rPr>
              <a:t>The next frontier is not just stronger reasoning. It is the whole experience: motion, speech, scene grounding, responsiveness, and usable latency.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DB1485-4B18-435E-B7EB-095F965E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1816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7CF0"/>
                </a:solidFill>
              </a:defRPr>
            </a:pPr>
            <a:r>
              <a:rPr sz="1350" b="0">
                <a:solidFill>
                  <a:srgbClr val="007CF0"/>
                </a:solidFill>
              </a:rPr>
              <a:t>Read the paper: arxiv.org/pdf/2607.04443</a:t>
            </a:r>
          </a:p>
        </p:txBody>
      </p:sp>
    </p:spTree>
    <p:extLst>
      <p:ext uri="{BB962C8B-B14F-4D97-AF65-F5344CB8AC3E}">
        <p14:creationId xmlns:p14="http://schemas.microsoft.com/office/powerpoint/2010/main" val="12853642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2026-07-14T20:52:25.6230000Z</dcterms:created>
  <dcterms:modified xsi:type="dcterms:W3CDTF">2026-07-14T20:52:25.6230000Z</dcterms:modified>
</coreProperties>
</file>