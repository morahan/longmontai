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914b224f6e94b0e" /><Relationship Type="http://schemas.openxmlformats.org/officeDocument/2006/relationships/extended-properties" Target="/docProps/app.xml" Id="R5fadbebe1a4d4bdf" /><Relationship Type="http://schemas.openxmlformats.org/officeDocument/2006/relationships/officeDocument" Target="/ppt/presentation.xml" Id="R5beb8b0e4a9f4e58" /></Relationships>
</file>

<file path=ppt/presentation.xml><?xml version="1.0" encoding="utf-8"?>
<p:presentation xmlns:p="http://schemas.openxmlformats.org/presentationml/2006/main">
  <p:sldMasterIdLst>
    <p:sldMasterId xmlns:r="http://schemas.openxmlformats.org/officeDocument/2006/relationships" id="2147483648" r:id="R91f240e5f4cd4bcf"/>
  </p:sldMasterIdLst>
  <p:notesMasterIdLst>
    <p:notesMasterId xmlns:r="http://schemas.openxmlformats.org/officeDocument/2006/relationships" r:id="Rcbdfe5e9816f4a66"/>
  </p:notesMasterIdLst>
  <p:sldIdLst>
    <p:sldId xmlns:r="http://schemas.openxmlformats.org/officeDocument/2006/relationships" id="256" r:id="Rdc60e668f14e4681"/>
    <p:sldId xmlns:r="http://schemas.openxmlformats.org/officeDocument/2006/relationships" id="257" r:id="Ra6123cee62e24d73"/>
    <p:sldId xmlns:r="http://schemas.openxmlformats.org/officeDocument/2006/relationships" id="258" r:id="R03526f395322489e"/>
    <p:sldId xmlns:r="http://schemas.openxmlformats.org/officeDocument/2006/relationships" id="259" r:id="R204b3d3c3cc74f67"/>
    <p:sldId xmlns:r="http://schemas.openxmlformats.org/officeDocument/2006/relationships" id="260" r:id="Rad5df3094991479f"/>
    <p:sldId xmlns:r="http://schemas.openxmlformats.org/officeDocument/2006/relationships" id="261" r:id="Rbed8feeb2d2b4eaf"/>
    <p:sldId xmlns:r="http://schemas.openxmlformats.org/officeDocument/2006/relationships" id="262" r:id="Ra937ef944c39409f"/>
    <p:sldId xmlns:r="http://schemas.openxmlformats.org/officeDocument/2006/relationships" id="263" r:id="R4bff7efa7ef44725"/>
    <p:sldId xmlns:r="http://schemas.openxmlformats.org/officeDocument/2006/relationships" id="264" r:id="R0bca42ab54504462"/>
    <p:sldId xmlns:r="http://schemas.openxmlformats.org/officeDocument/2006/relationships" id="265" r:id="R0c4c88cf5c4c44ce"/>
    <p:sldId xmlns:r="http://schemas.openxmlformats.org/officeDocument/2006/relationships" id="266" r:id="R5ed0fc136d5246a4"/>
    <p:sldId xmlns:r="http://schemas.openxmlformats.org/officeDocument/2006/relationships" id="267" r:id="R4ea30a862a394c8d"/>
    <p:sldId xmlns:r="http://schemas.openxmlformats.org/officeDocument/2006/relationships" id="268" r:id="R4ee404e8578247a2"/>
    <p:sldId xmlns:r="http://schemas.openxmlformats.org/officeDocument/2006/relationships" id="269" r:id="R05a0f375d3c74b92"/>
    <p:sldId xmlns:r="http://schemas.openxmlformats.org/officeDocument/2006/relationships" id="270" r:id="R0dd55425092a46ee"/>
    <p:sldId xmlns:r="http://schemas.openxmlformats.org/officeDocument/2006/relationships" id="271" r:id="R97875ea9aa3541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3d57fd6c3a4f98" /><Relationship Type="http://schemas.openxmlformats.org/officeDocument/2006/relationships/slideMaster" Target="/ppt/slideMasters/slideMaster1.xml" Id="R91f240e5f4cd4bcf" /><Relationship Type="http://schemas.openxmlformats.org/officeDocument/2006/relationships/notesMaster" Target="/ppt/notesMasters/notesMaster1.xml" Id="Rcbdfe5e9816f4a66" /><Relationship Type="http://schemas.openxmlformats.org/officeDocument/2006/relationships/presProps" Target="/ppt/presProps.xml" Id="R78dba28edb8049c5" /><Relationship Type="http://schemas.openxmlformats.org/officeDocument/2006/relationships/tableStyles" Target="/ppt/tableStyles.xml" Id="Rd375232c7dbd4185" /><Relationship Type="http://schemas.openxmlformats.org/officeDocument/2006/relationships/slide" Target="/ppt/slides/slide1.xml" Id="Rdc60e668f14e4681" /><Relationship Type="http://schemas.openxmlformats.org/officeDocument/2006/relationships/slide" Target="/ppt/slides/slide2.xml" Id="Ra6123cee62e24d73" /><Relationship Type="http://schemas.openxmlformats.org/officeDocument/2006/relationships/slide" Target="/ppt/slides/slide3.xml" Id="R03526f395322489e" /><Relationship Type="http://schemas.openxmlformats.org/officeDocument/2006/relationships/slide" Target="/ppt/slides/slide4.xml" Id="R204b3d3c3cc74f67" /><Relationship Type="http://schemas.openxmlformats.org/officeDocument/2006/relationships/slide" Target="/ppt/slides/slide5.xml" Id="Rad5df3094991479f" /><Relationship Type="http://schemas.openxmlformats.org/officeDocument/2006/relationships/slide" Target="/ppt/slides/slide6.xml" Id="Rbed8feeb2d2b4eaf" /><Relationship Type="http://schemas.openxmlformats.org/officeDocument/2006/relationships/slide" Target="/ppt/slides/slide7.xml" Id="Ra937ef944c39409f" /><Relationship Type="http://schemas.openxmlformats.org/officeDocument/2006/relationships/slide" Target="/ppt/slides/slide8.xml" Id="R4bff7efa7ef44725" /><Relationship Type="http://schemas.openxmlformats.org/officeDocument/2006/relationships/slide" Target="/ppt/slides/slide9.xml" Id="R0bca42ab54504462" /><Relationship Type="http://schemas.openxmlformats.org/officeDocument/2006/relationships/slide" Target="/ppt/slides/slide10.xml" Id="R0c4c88cf5c4c44ce" /><Relationship Type="http://schemas.openxmlformats.org/officeDocument/2006/relationships/slide" Target="/ppt/slides/slide11.xml" Id="R5ed0fc136d5246a4" /><Relationship Type="http://schemas.openxmlformats.org/officeDocument/2006/relationships/slide" Target="/ppt/slides/slide12.xml" Id="R4ea30a862a394c8d" /><Relationship Type="http://schemas.openxmlformats.org/officeDocument/2006/relationships/slide" Target="/ppt/slides/slide13.xml" Id="R4ee404e8578247a2" /><Relationship Type="http://schemas.openxmlformats.org/officeDocument/2006/relationships/slide" Target="/ppt/slides/slide14.xml" Id="R05a0f375d3c74b92" /><Relationship Type="http://schemas.openxmlformats.org/officeDocument/2006/relationships/slide" Target="/ppt/slides/slide15.xml" Id="R0dd55425092a46ee" /><Relationship Type="http://schemas.openxmlformats.org/officeDocument/2006/relationships/slide" Target="/ppt/slides/slide16.xml" Id="R97875ea9aa3541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8c0767655844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LongmontAI">
      <a:dk1>
        <a:srgbClr val="09090B"/>
      </a:dk1>
      <a:lt1>
        <a:srgbClr val="FFFFFF"/>
      </a:lt1>
      <a:dk2>
        <a:srgbClr val="18181B"/>
      </a:dk2>
      <a:lt2>
        <a:srgbClr val="F6F5F1"/>
      </a:lt2>
      <a:accent1>
        <a:srgbClr val="3B82F6"/>
      </a:accent1>
      <a:accent2>
        <a:srgbClr val="BFDBFE"/>
      </a:accent2>
      <a:accent3>
        <a:srgbClr val="64748B"/>
      </a:accent3>
      <a:accent4>
        <a:srgbClr val="94A3B8"/>
      </a:accent4>
      <a:accent5>
        <a:srgbClr val="CBD5E1"/>
      </a:accent5>
      <a:accent6>
        <a:srgbClr val="E2E8F0"/>
      </a:accent6>
      <a:hlink>
        <a:srgbClr val="BFDBFE"/>
      </a:hlink>
      <a:folHlink>
        <a:srgbClr val="BFDBFE"/>
      </a:folHlink>
    </a:clrScheme>
    <a:fontScheme name="Office">
      <a:majorFont>
        <a:latin typeface="Calibri Light"/>
        <a:ea typeface="Calibri Light"/>
        <a:cs typeface="Calibri Light"/>
      </a:majorFont>
      <a:minorFont>
        <a:latin typeface="Calibri"/>
        <a:ea typeface="Calibri"/>
        <a:cs typeface="Calibri"/>
      </a:minorFont>
    </a:fontScheme>
    <a:fmtScheme name="LongmontAI">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fe91b400774fa0" /><Relationship Type="http://schemas.openxmlformats.org/officeDocument/2006/relationships/notesMaster" Target="/ppt/notesMasters/notesMaster1.xml" Id="R5f691d8c363c43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153f1ec3bb42ab" /><Relationship Type="http://schemas.openxmlformats.org/officeDocument/2006/relationships/notesMaster" Target="/ppt/notesMasters/notesMaster1.xml" Id="R3ca669caa79349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c5682b60e84cf3" /><Relationship Type="http://schemas.openxmlformats.org/officeDocument/2006/relationships/notesMaster" Target="/ppt/notesMasters/notesMaster1.xml" Id="R72bb9a8d47334d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049fff01844b19" /><Relationship Type="http://schemas.openxmlformats.org/officeDocument/2006/relationships/notesMaster" Target="/ppt/notesMasters/notesMaster1.xml" Id="R72971c65a2f243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81accc11e84c57" /><Relationship Type="http://schemas.openxmlformats.org/officeDocument/2006/relationships/notesMaster" Target="/ppt/notesMasters/notesMaster1.xml" Id="Rba00398de5fb4f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31a66dad874fda" /><Relationship Type="http://schemas.openxmlformats.org/officeDocument/2006/relationships/notesMaster" Target="/ppt/notesMasters/notesMaster1.xml" Id="R26c6c93c08254d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c9aaed5b8141d7" /><Relationship Type="http://schemas.openxmlformats.org/officeDocument/2006/relationships/notesMaster" Target="/ppt/notesMasters/notesMaster1.xml" Id="Rf6402c6af06d4b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b4ad6186ff49ce" /><Relationship Type="http://schemas.openxmlformats.org/officeDocument/2006/relationships/notesMaster" Target="/ppt/notesMasters/notesMaster1.xml" Id="R989e8769ab384e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fbfe3375b8e41b4" /><Relationship Type="http://schemas.openxmlformats.org/officeDocument/2006/relationships/notesMaster" Target="/ppt/notesMasters/notesMaster1.xml" Id="R9241eb92e1644e0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15c2717b224ab2" /><Relationship Type="http://schemas.openxmlformats.org/officeDocument/2006/relationships/notesMaster" Target="/ppt/notesMasters/notesMaster1.xml" Id="R16642c6e65c740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4f7b5fd23942f5" /><Relationship Type="http://schemas.openxmlformats.org/officeDocument/2006/relationships/notesMaster" Target="/ppt/notesMasters/notesMaster1.xml" Id="Rdc126962649647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63854e3e6e4476" /><Relationship Type="http://schemas.openxmlformats.org/officeDocument/2006/relationships/notesMaster" Target="/ppt/notesMasters/notesMaster1.xml" Id="Rb0cccc2e92454f4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e17caaeb0e640a7" /><Relationship Type="http://schemas.openxmlformats.org/officeDocument/2006/relationships/notesMaster" Target="/ppt/notesMasters/notesMaster1.xml" Id="Raf44392e5bcb4b0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a22b9ad51bf45da" /><Relationship Type="http://schemas.openxmlformats.org/officeDocument/2006/relationships/notesMaster" Target="/ppt/notesMasters/notesMaster1.xml" Id="Rce7764446753403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859bdc41e1c4f79" /><Relationship Type="http://schemas.openxmlformats.org/officeDocument/2006/relationships/notesMaster" Target="/ppt/notesMasters/notesMaster1.xml" Id="R253cef91bded4e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c3ae4adc28d4090" /><Relationship Type="http://schemas.openxmlformats.org/officeDocument/2006/relationships/notesMaster" Target="/ppt/notesMasters/notesMaster1.xml" Id="Rf1c8a1184eea4b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fortnight brought new mid-price models, an agent stack, and measurable progress in physical AI. Scope excludes earlier launches unless labeled context. Source: https://app.notion.com/p/3eb57c81addd8170a56bed2415d972f4 and https://openai.com/index/devday-2026-recap/ .</a:t>
            </a:r>
          </a:p>
          <a:p xmlns:a="http://schemas.openxmlformats.org/drawingml/2006/main">
            <a:r>
              <a:t/>
            </a:r>
          </a:p>
          <a:p xmlns:a="http://schemas.openxmlformats.org/drawingml/2006/main">
            <a:r>
              <a:t>Image provenance: user-supplied screenshot from Photos-1-001, asset 54. Cropped to Dots panel.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Faithful redraw of supplied Library JPEG libfile_2c7562cf69548191a0dfa717d37c4e2a, also Downloads asset 7. Source chart says company disclosures and Altimeter analysis, annualized estimate as of 8/2026. Keep TOTALS only: the screenshot does not provide exact company segment values. Do not claim independent verification. Caption image is retained in the asset bundle for source review. Do not use a trend line or extrapolate beyond 2026E.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prices checked September 30. OpenAI https://developers.openai.com/api/docs/pricing ; Anthropic https://www.anthropic.com/claude-sonnet-5-5 ; xAI https://docs.x.ai/developers/pricing . OpenAI standard long context applies above 272K input tokens; Grok long rates apply at 200K and bill the full request. Cached input, cache writes, tools, reasoning tokens, retries and regional rates affect total job cost. Compare one real task before changing a default. Sol is available in Work/Codex, not yet Chat. Grok 4.7 Fast is only Cursor/Grok Build, not the public xAI API; premium 2x short context and 1.5x long. Benchmarks remain vendor-reported; this chart ranks price only.</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 Ultrafast is live; GPT-6.1 Sol Ultrafast remains coming in the next days. OpenAI reports up to 8x faster in Codex, about 300 tok/s, vs up to 6x API. Short-context Astra Ultrafast input/output is $60/$300; long-context is $120/$450. Standard input/output $10/$50. Vendor speed claims are workload-dependent. Source: https://developers.openai.com/api/docs/pricing?latest-pricing=ultrafast and https://openai.com/index/devday-2026-recap/ . Practical distinction: pay for speed when a person is waiting; measure the time saved.</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September 29 rollout starts with eligible Pro and Business Premium users. Enterprise and eligible organizations have an admin beta. First Dot included; Dot conversations do not count toward ChatGPT limits, but Work/Codex tasks it launches do. App count is OpenAI-reported. Source: https://openai.com/index/introducing-dots/ and https://help.openai.com/en/articles/20001530-getting-started-with-your-dot . Keep approval gates for sending, spending, merging and publishing. Do not call it GPT-6.1 Astra.</a:t>
            </a:r>
          </a:p>
          <a:p xmlns:a="http://schemas.openxmlformats.org/drawingml/2006/main">
            <a:r>
              <a:t/>
            </a:r>
          </a:p>
          <a:p xmlns:a="http://schemas.openxmlformats.org/drawingml/2006/main">
            <a:r>
              <a:t>Image: user-supplied asset 24, cropped to promotional video. This is not a stage photograph.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September 29. Codex cloud tasks continue after the laptop closes and are accessible remotely. Security Cloud scans GitHub repos, investigates findings and prepares fixes, with Daybreak Blue access. Cloud Codex and Security Cloud have different plan eligibility. Review prepared fixes. Source: https://openai.com/index/devday-2026-recap/ . Image: user-supplied screenshot of OpenAI DevDay, Downloads Photos-1-001.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Decisions API is limited preview, broad release coming days. Private Inference preview due this fall. Collaborative slides coming weeks. Dots rollout staged. Private Safety Processing / ZDR available now, distinct from future Private Inference. Source: https://openai.com/index/devday-2026-recap/ . Asset 38 clearly says Decisions API in preview but need not be included if it makes the slide dense.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Meta expanded Muse to glasses and app connectors. Gen 3 is available; Audio preorder ships Oct 13; Charm is preview. Google Gemini Flash/Flash-Lite TTS reached API GA Sep 22–23, enterprise still coming. Eleven v4/Turbo launched Sep 28. Sources: https://about.fb.com/news/2026/09/the-biggest-news-from-connect-2026/ ; https://blog.google/innovation-and-ai/models-and-research/gemini-models/gemini-3-8-text-to-speech/ ; https://elevenlabs.io/blog/eleven-v4 . Live Avatar Sep 24 is Gemini Enterprise; custom avatars allowlisted, not a free consumer feature. Compare latency and pronunciation on a real script. No vendor preference scores required.</a:t>
            </a:r>
          </a:p>
          <a:p xmlns:a="http://schemas.openxmlformats.org/drawingml/2006/main">
            <a:r>
              <a:t/>
            </a:r>
          </a:p>
          <a:p xmlns:a="http://schemas.openxmlformats.org/drawingml/2006/main">
            <a:r>
              <a:t>Image: official Meta Connect event photograph from https://about.fb.com/news/2026/09/the-biggest-news-from-connect-2026/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MiMo Sep 22 Pro-RL checkpoint has native multimodal inputs. Qwen Sep 18 announcement, some-region deployment Sep 17. API availability does not establish open model weights for Qwen3.8-Omni-Flash. Separate Qwen-Image-2.1 Sep 20 is open-sourced image generation/editing. FLUX 3 Action Sep 23 is a 7B open-weight world-action research model that predicts video and robot actions, not ordinary image generation. Sources: https://mimo.mi.com/docs/en-US/updates/model ; https://huggingface.co/XiaomiMiMo/MiMo-V2.6-Pro-RL ; https://qwen.ai/research/qwen3.8-livetranslate ; https://bfl.ai/models/flux-3-action . Omit parameter-count clutter and comparative benchmarks.</a:t>
            </a:r>
          </a:p>
          <a:p xmlns:a="http://schemas.openxmlformats.org/drawingml/2006/main">
            <a:r>
              <a:t/>
            </a:r>
          </a:p>
          <a:p xmlns:a="http://schemas.openxmlformats.org/drawingml/2006/main">
            <a:r>
              <a:t>Image: asset 14 from user-supplied Photos-1-001 screenshots. Official illustration only, social text excluded.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In-window Studio update improves MIDI conversion/generation and clip controls. Suno v6 launched Sep 9, outside the reporting window; only background if discussed. Source: https://suno.com/release-notes/studio-improved-midi . v6, v6-wild and custom model claims remain Suno-reported. Practical audience example: import a familiar MIDI part and compare instrument/arrangement output.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AMD announced approximate $8.2B agreement, subject to approvals and customary conditions. Acquisition has not closed. World Labs develops spatial intelligence, interactive 3D environments and robot-learning technology. Source: https://ir.amd.com/news-events/press-releases/detail/1299/amd-to-acquire-world-labs-to-advance-the-future-of-ai-compute . Agreement does not itself launch a product. No speculative Anthropic IPO chart on this slide.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 17. Holding task data, architecture and evaluation fixed, Figure reports Index pretraining improved success from 9% to 56%. Trials require complete tidying, towel folding or bed-making, no partial credit. No evaluation-home adaptation. Three behaviors in Bay Area homes do not establish general household reliability. Source: https://www.figure.ai/news/helix-2-5-zero-shot-30-home-generalization . Do not compare directly to Tesla production volume.</a:t>
            </a:r>
          </a:p>
          <a:p xmlns:a="http://schemas.openxmlformats.org/drawingml/2006/main">
            <a:r>
              <a:t/>
            </a:r>
          </a:p>
          <a:p xmlns:a="http://schemas.openxmlformats.org/drawingml/2006/main">
            <a:r>
              <a:t>Image: Figure official Helix 2.5 article open graph photograph, https://www.figure.ai/news/helix-2-5-zero-shot-30-home-generalization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software plus reference system design. OpenShell software/skills available, Sentry BlueField-4 is a reference design, not a claim of full hardware GA. NVIDIA partner best-practice initiative is separate from White House accord. Source: https://nvidianews.nvidia.com/news/open-agent-safety-platform . Product claims do not prove agent risk solved.</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White House Joint Commitment on Frontier Responsibilities includes monitoring, internal checks, external auditors/evaluators and independent board oversight. Participants: NVIDIA, xAI, Anthropic, Google, Meta, OpenAI. Voluntary; no mandatory government enforcement or public release of findings. Source: https://www.sbs.com.au/news/article/ai-industry-ceos-bow-to-trump-led-push-for-self-regulation/j9rdp2hr4 ; https://www.nextgov.com/artificial-intelligence/2026/09/white-house-unveils-super-intelligence-executive-order-and-industry-accord/416325/ ; https://www.theguardian.com/us-news/2026/sep/29/trump-ai-deal-tech-ceos-superintelligence . Reporting attributed rather than primary documentation. Buyers can ask for testing scope, evaluator independence and remediation evidence.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editorial practical prompts, not measured findings. Choose a job you currently run on a flagship model. Keep acceptance criteria, tools and harness stable. Preserve human confirmation for consequential actions. For creative tools, compare the same script or musical brief. For robots, ask about new-environment success rather than only demo clips.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URLs appear on the relevant slides. Prices are standard short-context list prices as of September 30, 2026. Benchmarks, product performance and speed comparisons are vendor-reported. Altimeter token-demand data is historical context, with an annualized August 2026 estimate for 2026E.</a:t>
            </a:r>
          </a:p>
          <a:p xmlns:a="http://schemas.openxmlformats.org/drawingml/2006/main">
            <a:r>
              <a:t/>
            </a:r>
          </a:p>
          <a:p xmlns:a="http://schemas.openxmlformats.org/drawingml/2006/main">
            <a:r>
              <a:t>Complete source URLs are preserved in the notes on every topic slide. Original article: https://app.notion.com/p/3eb57c81addd8170a56bed2415d972f4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4d686e97a04a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e8dd05a72042dd" /><Relationship Type="http://schemas.openxmlformats.org/officeDocument/2006/relationships/slideLayout" Target="/ppt/slideLayouts/slideLayout1.xml" Id="Rb3e8345289f245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e8345289f245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LongmontAI">
      <a:dk1>
        <a:srgbClr val="09090B"/>
      </a:dk1>
      <a:lt1>
        <a:srgbClr val="FFFFFF"/>
      </a:lt1>
      <a:dk2>
        <a:srgbClr val="18181B"/>
      </a:dk2>
      <a:lt2>
        <a:srgbClr val="F6F5F1"/>
      </a:lt2>
      <a:accent1>
        <a:srgbClr val="3B82F6"/>
      </a:accent1>
      <a:accent2>
        <a:srgbClr val="BFDBFE"/>
      </a:accent2>
      <a:accent3>
        <a:srgbClr val="64748B"/>
      </a:accent3>
      <a:accent4>
        <a:srgbClr val="94A3B8"/>
      </a:accent4>
      <a:accent5>
        <a:srgbClr val="CBD5E1"/>
      </a:accent5>
      <a:accent6>
        <a:srgbClr val="E2E8F0"/>
      </a:accent6>
      <a:hlink>
        <a:srgbClr val="BFDBFE"/>
      </a:hlink>
      <a:folHlink>
        <a:srgbClr val="BFDBFE"/>
      </a:folHlink>
    </a:clrScheme>
    <a:fontScheme name="Office">
      <a:majorFont>
        <a:latin typeface="Calibri Light"/>
        <a:ea typeface="Calibri Light"/>
        <a:cs typeface="Calibri Light"/>
      </a:majorFont>
      <a:minorFont>
        <a:latin typeface="Calibri"/>
        <a:ea typeface="Calibri"/>
        <a:cs typeface="Calibri"/>
      </a:minorFont>
    </a:fontScheme>
    <a:fmtScheme name="LongmontAI">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5a2b91b73b41fd" /><Relationship Type="http://schemas.openxmlformats.org/officeDocument/2006/relationships/image" Target="/ppt/media/image.jpeg" Id="R79f6285122e4485f" /><Relationship Type="http://schemas.openxmlformats.org/officeDocument/2006/relationships/notesSlide" Target="/ppt/notesSlides/notesSlide1.xml" Id="R923bd3f1f6d146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103abf88e843a4" /><Relationship Type="http://schemas.openxmlformats.org/officeDocument/2006/relationships/chart" Target="/ppt/slides/charts/chart1.xml" Id="Rd246d0f90420416c" /><Relationship Type="http://schemas.openxmlformats.org/officeDocument/2006/relationships/notesSlide" Target="/ppt/notesSlides/notesSlide2.xml" Id="R40a24c42f53542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533cb440c24739" /><Relationship Type="http://schemas.openxmlformats.org/officeDocument/2006/relationships/chart" Target="/ppt/slides/charts/chart2.xml" Id="R905070014ffa4cdd" /><Relationship Type="http://schemas.openxmlformats.org/officeDocument/2006/relationships/notesSlide" Target="/ppt/notesSlides/notesSlide3.xml" Id="R314cb07561e848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0f433c4af6f4b4e" /><Relationship Type="http://schemas.openxmlformats.org/officeDocument/2006/relationships/chart" Target="/ppt/slides/charts/chart3.xml" Id="R504df5b9d2a948f2" /><Relationship Type="http://schemas.openxmlformats.org/officeDocument/2006/relationships/notesSlide" Target="/ppt/notesSlides/notesSlide4.xml" Id="R6d34d0468ab342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09cc3cfc3cc42f2" /><Relationship Type="http://schemas.openxmlformats.org/officeDocument/2006/relationships/image" Target="/ppt/media/image2.jpeg" Id="R7a497a6f1d60476f" /><Relationship Type="http://schemas.openxmlformats.org/officeDocument/2006/relationships/notesSlide" Target="/ppt/notesSlides/notesSlide5.xml" Id="R6bd805cdfe7b4f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7bc3cc15bff41a2" /><Relationship Type="http://schemas.openxmlformats.org/officeDocument/2006/relationships/image" Target="/ppt/media/image3.jpeg" Id="Rc08f038cf5b34b59" /><Relationship Type="http://schemas.openxmlformats.org/officeDocument/2006/relationships/notesSlide" Target="/ppt/notesSlides/notesSlide6.xml" Id="Ra043fca9177c45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8bbd910c9a0411d" /><Relationship Type="http://schemas.openxmlformats.org/officeDocument/2006/relationships/notesSlide" Target="/ppt/notesSlides/notesSlide7.xml" Id="R2513e238a59441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0cca8cf469b46e6" /><Relationship Type="http://schemas.openxmlformats.org/officeDocument/2006/relationships/image" Target="/ppt/media/image4.jpeg" Id="R491c89b8cbb24eab" /><Relationship Type="http://schemas.openxmlformats.org/officeDocument/2006/relationships/notesSlide" Target="/ppt/notesSlides/notesSlide8.xml" Id="R3729d4dc473143a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36b6440381c4bc2" /><Relationship Type="http://schemas.openxmlformats.org/officeDocument/2006/relationships/image" Target="/ppt/media/image5.jpeg" Id="R41694344ef324461" /><Relationship Type="http://schemas.openxmlformats.org/officeDocument/2006/relationships/notesSlide" Target="/ppt/notesSlides/notesSlide9.xml" Id="Rbcba33efd2c74b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bfffcb2a21e4cd7" /><Relationship Type="http://schemas.openxmlformats.org/officeDocument/2006/relationships/notesSlide" Target="/ppt/notesSlides/notesSlide10.xml" Id="Rb74076b7d98e4d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c21dd790cfe4279" /><Relationship Type="http://schemas.openxmlformats.org/officeDocument/2006/relationships/notesSlide" Target="/ppt/notesSlides/notesSlide11.xml" Id="Ra99dc45d694f439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847857f201c46f7" /><Relationship Type="http://schemas.openxmlformats.org/officeDocument/2006/relationships/chart" Target="/ppt/slides/charts/chart4.xml" Id="Rc0064f674e4340ae" /><Relationship Type="http://schemas.openxmlformats.org/officeDocument/2006/relationships/image" Target="/ppt/media/image6.jpeg" Id="R882bc2f5e6334ae1" /><Relationship Type="http://schemas.openxmlformats.org/officeDocument/2006/relationships/notesSlide" Target="/ppt/notesSlides/notesSlide12.xml" Id="R26e97b6baaf842d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b2d4a2947354b42" /><Relationship Type="http://schemas.openxmlformats.org/officeDocument/2006/relationships/notesSlide" Target="/ppt/notesSlides/notesSlide13.xml" Id="R0041da0022ce46a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10c728e20ce4088" /><Relationship Type="http://schemas.openxmlformats.org/officeDocument/2006/relationships/notesSlide" Target="/ppt/notesSlides/notesSlide14.xml" Id="Ra2a579f70cbe453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8605dcd707d4667" /><Relationship Type="http://schemas.openxmlformats.org/officeDocument/2006/relationships/notesSlide" Target="/ppt/notesSlides/notesSlide15.xml" Id="Rc31b3603054a462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1289d4b8a5d4430" /><Relationship Type="http://schemas.openxmlformats.org/officeDocument/2006/relationships/hyperlink" Target="https://developers.openai.com/api/docs/pricing" TargetMode="External" Id="R0c4b9e45205a4029" /><Relationship Type="http://schemas.openxmlformats.org/officeDocument/2006/relationships/hyperlink" Target="https://openai.com/index/devday-2026-recap/" TargetMode="External" Id="R72c3f820365e4099" /><Relationship Type="http://schemas.openxmlformats.org/officeDocument/2006/relationships/hyperlink" Target="https://www.figure.ai/news/helix-2-5-zero-shot-30-home-generalization" TargetMode="External" Id="R5b6ef39fc1564a3d" /><Relationship Type="http://schemas.openxmlformats.org/officeDocument/2006/relationships/hyperlink" Target="https://suno.com/release-notes/studio-improved-midi" TargetMode="External" Id="R39f4d19f0b6c420b" /><Relationship Type="http://schemas.openxmlformats.org/officeDocument/2006/relationships/notesSlide" Target="/ppt/notesSlides/notesSlide16.xml" Id="R022dd5ece0934f2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Annual tokens</c:v>
          </c:tx>
          <c:spPr>
            <a:solidFill xmlns:a="http://schemas.openxmlformats.org/drawingml/2006/main">
              <a:srgbClr val="3B82F6"/>
            </a:solidFill>
          </c:spPr>
          <c:dPt>
            <c:idx val="3"/>
            <c:invertIfNegative val="0"/>
            <c:spPr>
              <a:solidFill xmlns:a="http://schemas.openxmlformats.org/drawingml/2006/main">
                <a:srgbClr val="1E3A5F"/>
              </a:solidFill>
            </c:spPr>
          </c:dPt>
          <c:cat>
            <c:strRef>
              <c:f>'Chart Data'!$A$2:$A$5</c:f>
              <c:strCache>
                <c:ptCount val="4"/>
                <c:pt idx="0">
                  <c:v>2023</c:v>
                </c:pt>
                <c:pt idx="1">
                  <c:v>2024</c:v>
                </c:pt>
                <c:pt idx="2">
                  <c:v>2025</c:v>
                </c:pt>
                <c:pt idx="3">
                  <c:v>2026E</c:v>
                </c:pt>
              </c:strCache>
            </c:strRef>
          </c:cat>
          <c:val>
            <c:numRef>
              <c:f>'Chart Data'!$B$2:$B$5</c:f>
              <c:numCache>
                <c:formatCode>0.0</c:formatCode>
                <c:ptCount val="4"/>
                <c:pt idx="0">
                  <c:v>0.6</c:v>
                </c:pt>
                <c:pt idx="1">
                  <c:v>3.4</c:v>
                </c:pt>
                <c:pt idx="2">
                  <c:v>14.5</c:v>
                </c:pt>
                <c:pt idx="3">
                  <c:v>47</c:v>
                </c:pt>
              </c:numCache>
            </c:numRef>
          </c:val>
        </c:ser>
        <c:dLbls>
          <c:txPr>
            <a:bodyPr xmlns:a="http://schemas.openxmlformats.org/drawingml/2006/main" anchorCtr="1"/>
            <a:lstStyle xmlns:a="http://schemas.openxmlformats.org/drawingml/2006/main"/>
            <a:p xmlns:a="http://schemas.openxmlformats.org/drawingml/2006/main">
              <a:pPr>
                <a:defRPr sz="2700" b="1">
                  <a:solidFill>
                    <a:srgbClr val="18181B"/>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18181B"/>
                </a:solidFill>
                <a:latin typeface="Liberation Sans"/>
                <a:ea typeface="Liberation Sans"/>
                <a:cs typeface="Liberation Sans"/>
              </a:defRPr>
            </a:pPr>
          </a:p>
        </c:txPr>
        <c:crossAx val="48672768"/>
      </c:catAx>
      <c:valAx>
        <c:axId val="48672768"/>
        <c:scaling>
          <c:orientation val="minMax"/>
          <c:max val="55"/>
          <c:min val="0"/>
        </c:scaling>
        <c:delete val="0"/>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18181B"/>
                </a:solidFill>
                <a:latin typeface="Liberation Sans"/>
                <a:ea typeface="Liberation Sans"/>
                <a:cs typeface="Liberation Sans"/>
              </a:defRPr>
            </a:pPr>
          </a:p>
        </c:txPr>
        <c:crossAx val="48650112"/>
        <c:crossBetween val="between"/>
      </c:valAx>
      <c:spPr>
        <a:solidFill xmlns:a="http://schemas.openxmlformats.org/drawingml/2006/main">
          <a:srgbClr val="F6F5F1"/>
        </a:solidFill>
        <a:ln xmlns:a="http://schemas.openxmlformats.org/drawingml/2006/main" w="0">
          <a:noFill/>
        </a:ln>
      </c:spPr>
    </c:plotArea>
    <c:plotVisOnly val="1"/>
  </c:chart>
  <c:spPr>
    <a:solidFill xmlns:a="http://schemas.openxmlformats.org/drawingml/2006/main">
      <a:srgbClr val="F6F5F1"/>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Input</c:v>
          </c:tx>
          <c:spPr>
            <a:solidFill xmlns:a="http://schemas.openxmlformats.org/drawingml/2006/main">
              <a:srgbClr val="BFDBFE"/>
            </a:solidFill>
          </c:spPr>
          <c:cat>
            <c:strRef>
              <c:f>'Chart Data'!$A$2:$A$4</c:f>
              <c:strCache>
                <c:ptCount val="3"/>
                <c:pt idx="0">
                  <c:v>GPT-6.1 Sol</c:v>
                </c:pt>
                <c:pt idx="1">
                  <c:v>Claude Sonnet 5.5</c:v>
                </c:pt>
                <c:pt idx="2">
                  <c:v>Grok 4.7</c:v>
                </c:pt>
              </c:strCache>
            </c:strRef>
          </c:cat>
          <c:val>
            <c:numRef>
              <c:f>'Chart Data'!$B$2:$B$4</c:f>
              <c:numCache>
                <c:formatCode>$0</c:formatCode>
                <c:ptCount val="3"/>
                <c:pt idx="0">
                  <c:v>2</c:v>
                </c:pt>
                <c:pt idx="1">
                  <c:v>2</c:v>
                </c:pt>
                <c:pt idx="2">
                  <c:v>2</c:v>
                </c:pt>
              </c:numCache>
            </c:numRef>
          </c:val>
        </c:ser>
        <c:ser>
          <c:idx val="1"/>
          <c:order val="1"/>
          <c:tx>
            <c:v>Output</c:v>
          </c:tx>
          <c:spPr>
            <a:solidFill xmlns:a="http://schemas.openxmlformats.org/drawingml/2006/main">
              <a:srgbClr val="3B82F6"/>
            </a:solidFill>
          </c:spPr>
          <c:cat>
            <c:strRef>
              <c:f>'Chart Data'!$C$2:$C$4</c:f>
              <c:strCache>
                <c:ptCount val="3"/>
                <c:pt idx="0">
                  <c:v>GPT-6.1 Sol</c:v>
                </c:pt>
                <c:pt idx="1">
                  <c:v>Claude Sonnet 5.5</c:v>
                </c:pt>
                <c:pt idx="2">
                  <c:v>Grok 4.7</c:v>
                </c:pt>
              </c:strCache>
            </c:strRef>
          </c:cat>
          <c:val>
            <c:numRef>
              <c:f>'Chart Data'!$D$2:$D$4</c:f>
              <c:numCache>
                <c:formatCode>$0</c:formatCode>
                <c:ptCount val="3"/>
                <c:pt idx="0">
                  <c:v>10</c:v>
                </c:pt>
                <c:pt idx="1">
                  <c:v>10</c:v>
                </c:pt>
                <c:pt idx="2">
                  <c:v>6</c:v>
                </c:pt>
              </c:numCache>
            </c:numRef>
          </c:val>
        </c:ser>
        <c:dLbls>
          <c:txPr>
            <a:bodyPr xmlns:a="http://schemas.openxmlformats.org/drawingml/2006/main" anchorCtr="1"/>
            <a:lstStyle xmlns:a="http://schemas.openxmlformats.org/drawingml/2006/main"/>
            <a:p xmlns:a="http://schemas.openxmlformats.org/drawingml/2006/main">
              <a:pPr>
                <a:defRPr sz="2700" b="1">
                  <a:solidFill>
                    <a:srgbClr val="FFFFFF"/>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60"/>
        <c:overlap val="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FFFFFF"/>
                </a:solidFill>
                <a:latin typeface="Liberation Sans"/>
                <a:ea typeface="Liberation Sans"/>
                <a:cs typeface="Liberation Sans"/>
              </a:defRPr>
            </a:pPr>
          </a:p>
        </c:txPr>
        <c:crossAx val="48672768"/>
      </c:catAx>
      <c:valAx>
        <c:axId val="48672768"/>
        <c:scaling>
          <c:orientation val="minMax"/>
          <c:max val="12"/>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FFFFFF"/>
                </a:solidFill>
                <a:latin typeface="Liberation Sans"/>
                <a:ea typeface="Liberation Sans"/>
                <a:cs typeface="Liberation Sans"/>
              </a:defRPr>
            </a:pPr>
          </a:p>
        </c:txPr>
        <c:crossAx val="48650112"/>
        <c:crossBetween val="between"/>
      </c:valAx>
      <c:spPr>
        <a:solidFill xmlns:a="http://schemas.openxmlformats.org/drawingml/2006/main">
          <a:srgbClr val="09090B"/>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2100">
              <a:solidFill>
                <a:srgbClr val="FFFFFF"/>
              </a:solidFill>
              <a:latin typeface="Liberation Sans"/>
              <a:ea typeface="Liberation Sans"/>
              <a:cs typeface="Liberation Sans"/>
            </a:defRPr>
          </a:pPr>
        </a:p>
      </c:txPr>
    </c:legend>
    <c:plotVisOnly val="1"/>
  </c:chart>
  <c:spPr>
    <a:solidFill xmlns:a="http://schemas.openxmlformats.org/drawingml/2006/main">
      <a:srgbClr val="09090B"/>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Output price</c:v>
          </c:tx>
          <c:spPr>
            <a:solidFill xmlns:a="http://schemas.openxmlformats.org/drawingml/2006/main">
              <a:srgbClr val="3B82F6"/>
            </a:solidFill>
          </c:spPr>
          <c:dPt>
            <c:idx val="0"/>
            <c:invertIfNegative val="0"/>
            <c:spPr>
              <a:solidFill xmlns:a="http://schemas.openxmlformats.org/drawingml/2006/main">
                <a:srgbClr val="BFDBFE"/>
              </a:solidFill>
            </c:spPr>
          </c:dPt>
          <c:cat>
            <c:strRef>
              <c:f>'Chart Data'!$A$2:$A$3</c:f>
              <c:strCache>
                <c:ptCount val="2"/>
                <c:pt idx="0">
                  <c:v>Standard</c:v>
                </c:pt>
                <c:pt idx="1">
                  <c:v>Ultrafast</c:v>
                </c:pt>
              </c:strCache>
            </c:strRef>
          </c:cat>
          <c:val>
            <c:numRef>
              <c:f>'Chart Data'!$B$2:$B$3</c:f>
              <c:numCache>
                <c:formatCode>$0</c:formatCode>
                <c:ptCount val="2"/>
                <c:pt idx="0">
                  <c:v>50</c:v>
                </c:pt>
                <c:pt idx="1">
                  <c:v>300</c:v>
                </c:pt>
              </c:numCache>
            </c:numRef>
          </c:val>
        </c:ser>
        <c:dLbls>
          <c:txPr>
            <a:bodyPr xmlns:a="http://schemas.openxmlformats.org/drawingml/2006/main" anchorCtr="1"/>
            <a:lstStyle xmlns:a="http://schemas.openxmlformats.org/drawingml/2006/main"/>
            <a:p xmlns:a="http://schemas.openxmlformats.org/drawingml/2006/main">
              <a:pPr>
                <a:defRPr sz="2700" b="1">
                  <a:solidFill>
                    <a:srgbClr val="FFFFFF"/>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FFFFFF"/>
                </a:solidFill>
                <a:latin typeface="Liberation Sans"/>
                <a:ea typeface="Liberation Sans"/>
                <a:cs typeface="Liberation Sans"/>
              </a:defRPr>
            </a:pPr>
          </a:p>
        </c:txPr>
        <c:crossAx val="48672768"/>
      </c:catAx>
      <c:valAx>
        <c:axId val="48672768"/>
        <c:scaling>
          <c:orientation val="minMax"/>
          <c:max val="350"/>
          <c:min val="0"/>
        </c:scaling>
        <c:delete val="0"/>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FFFFFF"/>
                </a:solidFill>
                <a:latin typeface="Liberation Sans"/>
                <a:ea typeface="Liberation Sans"/>
                <a:cs typeface="Liberation Sans"/>
              </a:defRPr>
            </a:pPr>
          </a:p>
        </c:txPr>
        <c:crossAx val="48650112"/>
        <c:crossBetween val="between"/>
      </c:valAx>
      <c:spPr>
        <a:solidFill xmlns:a="http://schemas.openxmlformats.org/drawingml/2006/main">
          <a:srgbClr val="09090B"/>
        </a:solidFill>
        <a:ln xmlns:a="http://schemas.openxmlformats.org/drawingml/2006/main" w="0">
          <a:noFill/>
        </a:ln>
      </c:spPr>
    </c:plotArea>
    <c:plotVisOnly val="1"/>
  </c:chart>
  <c:spPr>
    <a:solidFill xmlns:a="http://schemas.openxmlformats.org/drawingml/2006/main">
      <a:srgbClr val="09090B"/>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Task success</c:v>
          </c:tx>
          <c:spPr>
            <a:solidFill xmlns:a="http://schemas.openxmlformats.org/drawingml/2006/main">
              <a:srgbClr val="3B82F6"/>
            </a:solidFill>
          </c:spPr>
          <c:dPt>
            <c:idx val="0"/>
            <c:invertIfNegative val="0"/>
            <c:spPr>
              <a:solidFill xmlns:a="http://schemas.openxmlformats.org/drawingml/2006/main">
                <a:srgbClr val="A1A1AA"/>
              </a:solidFill>
            </c:spPr>
          </c:dPt>
          <c:cat>
            <c:strRef>
              <c:f>'Chart Data'!$A$2:$A$3</c:f>
              <c:strCache>
                <c:ptCount val="2"/>
                <c:pt idx="0">
                  <c:v>Without Index</c:v>
                </c:pt>
                <c:pt idx="1">
                  <c:v>With Index</c:v>
                </c:pt>
              </c:strCache>
            </c:strRef>
          </c:cat>
          <c:val>
            <c:numRef>
              <c:f>'Chart Data'!$B$2:$B$3</c:f>
              <c:numCache>
                <c:formatCode>0%</c:formatCode>
                <c:ptCount val="2"/>
                <c:pt idx="0">
                  <c:v>0.09</c:v>
                </c:pt>
                <c:pt idx="1">
                  <c:v>0.56</c:v>
                </c:pt>
              </c:numCache>
            </c:numRef>
          </c:val>
        </c:ser>
        <c:dLbls>
          <c:txPr>
            <a:bodyPr xmlns:a="http://schemas.openxmlformats.org/drawingml/2006/main" anchorCtr="1"/>
            <a:lstStyle xmlns:a="http://schemas.openxmlformats.org/drawingml/2006/main"/>
            <a:p xmlns:a="http://schemas.openxmlformats.org/drawingml/2006/main">
              <a:pPr>
                <a:defRPr sz="2700" b="1">
                  <a:solidFill>
                    <a:srgbClr val="18181B"/>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18181B"/>
                </a:solidFill>
                <a:latin typeface="Liberation Sans"/>
                <a:ea typeface="Liberation Sans"/>
                <a:cs typeface="Liberation Sans"/>
              </a:defRPr>
            </a:pPr>
          </a:p>
        </c:txPr>
        <c:crossAx val="48672768"/>
      </c:catAx>
      <c:valAx>
        <c:axId val="48672768"/>
        <c:scaling>
          <c:orientation val="minMax"/>
          <c:max val="0.65"/>
          <c:min val="0"/>
        </c:scaling>
        <c:delete val="0"/>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18181B"/>
                </a:solidFill>
                <a:latin typeface="Liberation Sans"/>
                <a:ea typeface="Liberation Sans"/>
                <a:cs typeface="Liberation Sans"/>
              </a:defRPr>
            </a:pPr>
          </a:p>
        </c:txPr>
        <c:crossAx val="48650112"/>
        <c:crossBetween val="between"/>
      </c:valAx>
      <c:spPr>
        <a:solidFill xmlns:a="http://schemas.openxmlformats.org/drawingml/2006/main">
          <a:srgbClr val="F6F5F1"/>
        </a:solidFill>
        <a:ln xmlns:a="http://schemas.openxmlformats.org/drawingml/2006/main" w="0">
          <a:noFill/>
        </a:ln>
      </c:spPr>
    </c:plotArea>
    <c:plotVisOnly val="1"/>
  </c:chart>
  <c:spPr>
    <a:solidFill xmlns:a="http://schemas.openxmlformats.org/drawingml/2006/main">
      <a:srgbClr val="F6F5F1"/>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LongmontAI">
            <a:extLst xmlns:a="http://schemas.openxmlformats.org/drawingml/2006/main">
              <a:ext uri="{FF2B5EF4-FFF2-40B4-BE49-F238E27FC236}">
                <a16:creationId xmlns:a16="http://schemas.microsoft.com/office/drawing/2014/main" id="{F4C72479-9B1A-4B78-B3C5-C862D1A4B3BB}"/>
              </a:ext>
            </a:extLst>
          </p:cNvPr>
          <p:cNvSpPr>
            <a:spLocks xmlns:a="http://schemas.openxmlformats.org/drawingml/2006/main" noGrp="1"/>
          </p:cNvSpPr>
          <p:nvPr/>
        </p:nvSpPr>
        <p:spPr>
          <a:xfrm xmlns:a="http://schemas.openxmlformats.org/drawingml/2006/main">
            <a:off x="685800" y="63722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LongmontAI</a:t>
            </a:r>
          </a:p>
        </p:txBody>
      </p:sp>
      <p:sp>
        <p:nvSpPr>
          <p:cNvPr id="2" name="01">
            <a:extLst xmlns:a="http://schemas.openxmlformats.org/drawingml/2006/main">
              <a:ext uri="{FF2B5EF4-FFF2-40B4-BE49-F238E27FC236}">
                <a16:creationId xmlns:a16="http://schemas.microsoft.com/office/drawing/2014/main" id="{F0457F16-4DEB-4C7A-A2AD-9EFEBCC74FEB}"/>
              </a:ext>
            </a:extLst>
          </p:cNvPr>
          <p:cNvSpPr>
            <a:spLocks xmlns:a="http://schemas.openxmlformats.org/drawingml/2006/main" noGrp="1"/>
          </p:cNvSpPr>
          <p:nvPr/>
        </p:nvSpPr>
        <p:spPr>
          <a:xfrm xmlns:a="http://schemas.openxmlformats.org/drawingml/2006/main">
            <a:off x="10906125" y="6372225"/>
            <a:ext cx="600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01</a:t>
            </a:r>
          </a:p>
        </p:txBody>
      </p:sp>
      <p:sp>
        <p:nvSpPr>
          <p:cNvPr id="3" name="AI DEVELOPMENTS">
            <a:extLst xmlns:a="http://schemas.openxmlformats.org/drawingml/2006/main">
              <a:ext uri="{FF2B5EF4-FFF2-40B4-BE49-F238E27FC236}">
                <a16:creationId xmlns:a16="http://schemas.microsoft.com/office/drawing/2014/main" id="{1553B015-40E3-4CA2-82E6-36AB3BBBADDD}"/>
              </a:ext>
            </a:extLst>
          </p:cNvPr>
          <p:cNvSpPr>
            <a:spLocks xmlns:a="http://schemas.openxmlformats.org/drawingml/2006/main" noGrp="1"/>
          </p:cNvSpPr>
          <p:nvPr/>
        </p:nvSpPr>
        <p:spPr>
          <a:xfrm xmlns:a="http://schemas.openxmlformats.org/drawingml/2006/main">
            <a:off x="704850" y="7239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a:solidFill>
                  <a:srgbClr val="BFDBFE"/>
                </a:solidFill>
                <a:latin typeface="Liberation Mono"/>
                <a:ea typeface="Liberation Mono"/>
                <a:cs typeface="Liberation Mono"/>
              </a:defRPr>
            </a:pPr>
            <a:r>
              <a:rPr sz="1800">
                <a:solidFill>
                  <a:srgbClr val="BFDBFE"/>
                </a:solidFill>
                <a:latin typeface="Liberation Mono"/>
                <a:ea typeface="Liberation Mono"/>
                <a:cs typeface="Liberation Mono"/>
              </a:rPr>
              <a:t>AI DEVELOPMENTS</a:t>
            </a:r>
          </a:p>
        </p:txBody>
      </p:sp>
      <p:sp>
        <p:nvSpPr>
          <p:cNvPr id="4" name="Agents, bots,&#10;dots, oh my!">
            <a:extLst xmlns:a="http://schemas.openxmlformats.org/drawingml/2006/main">
              <a:ext uri="{FF2B5EF4-FFF2-40B4-BE49-F238E27FC236}">
                <a16:creationId xmlns:a16="http://schemas.microsoft.com/office/drawing/2014/main" id="{AF9D793A-18A3-423A-B080-729D51B7F58F}"/>
              </a:ext>
            </a:extLst>
          </p:cNvPr>
          <p:cNvSpPr>
            <a:spLocks xmlns:a="http://schemas.openxmlformats.org/drawingml/2006/main" noGrp="1"/>
          </p:cNvSpPr>
          <p:nvPr/>
        </p:nvSpPr>
        <p:spPr>
          <a:xfrm xmlns:a="http://schemas.openxmlformats.org/drawingml/2006/main">
            <a:off x="657225" y="1571625"/>
            <a:ext cx="7000875"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825">
                <a:solidFill>
                  <a:srgbClr val="FFFFFF"/>
                </a:solidFill>
                <a:latin typeface="Liberation Serif"/>
                <a:ea typeface="Liberation Serif"/>
                <a:cs typeface="Liberation Serif"/>
              </a:defRPr>
            </a:pPr>
            <a:r>
              <a:rPr sz="6825">
                <a:solidFill>
                  <a:srgbClr val="FFFFFF"/>
                </a:solidFill>
                <a:latin typeface="Liberation Serif"/>
                <a:ea typeface="Liberation Serif"/>
                <a:cs typeface="Liberation Serif"/>
              </a:rPr>
              <a:t>Agents, bots,</a:t>
            </a:r>
          </a:p>
          <a:p xmlns:a="http://schemas.openxmlformats.org/drawingml/2006/main">
            <a:pPr>
              <a:defRPr sz="6825">
                <a:solidFill>
                  <a:srgbClr val="FFFFFF"/>
                </a:solidFill>
                <a:latin typeface="Liberation Serif"/>
                <a:ea typeface="Liberation Serif"/>
                <a:cs typeface="Liberation Serif"/>
              </a:defRPr>
            </a:pPr>
            <a:r>
              <a:rPr sz="6825">
                <a:solidFill>
                  <a:srgbClr val="FFFFFF"/>
                </a:solidFill>
                <a:latin typeface="Liberation Serif"/>
                <a:ea typeface="Liberation Serif"/>
                <a:cs typeface="Liberation Serif"/>
              </a:rPr>
              <a:t>dots, oh my!</a:t>
            </a:r>
          </a:p>
        </p:txBody>
      </p:sp>
      <p:sp>
        <p:nvSpPr>
          <p:cNvPr id="5" name="September 17–30, 2026">
            <a:extLst xmlns:a="http://schemas.openxmlformats.org/drawingml/2006/main">
              <a:ext uri="{FF2B5EF4-FFF2-40B4-BE49-F238E27FC236}">
                <a16:creationId xmlns:a16="http://schemas.microsoft.com/office/drawing/2014/main" id="{A1F39808-94C6-4089-8B2B-99EC3B6E1DB6}"/>
              </a:ext>
            </a:extLst>
          </p:cNvPr>
          <p:cNvSpPr>
            <a:spLocks xmlns:a="http://schemas.openxmlformats.org/drawingml/2006/main" noGrp="1"/>
          </p:cNvSpPr>
          <p:nvPr/>
        </p:nvSpPr>
        <p:spPr>
          <a:xfrm xmlns:a="http://schemas.openxmlformats.org/drawingml/2006/main">
            <a:off x="714375" y="489585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a:solidFill>
                  <a:srgbClr val="A1A1AA"/>
                </a:solidFill>
                <a:latin typeface="Liberation Sans"/>
                <a:ea typeface="Liberation Sans"/>
                <a:cs typeface="Liberation Sans"/>
              </a:defRPr>
            </a:pPr>
            <a:r>
              <a:rPr sz="2625">
                <a:solidFill>
                  <a:srgbClr val="A1A1AA"/>
                </a:solidFill>
                <a:latin typeface="Liberation Sans"/>
                <a:ea typeface="Liberation Sans"/>
                <a:cs typeface="Liberation Sans"/>
              </a:rPr>
              <a:t>September 17–30, 2026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9f6285122e4485f"/>
          <a:srcRect xmlns:a="http://schemas.openxmlformats.org/drawingml/2006/main" l="15" t="0" r="15" b="0"/>
          <a:stretch xmlns:a="http://schemas.openxmlformats.org/drawingml/2006/main">
            <a:fillRect l="0" t="0" r="0" b="0"/>
          </a:stretch>
        </p:blipFill>
        <p:spPr>
          <a:xfrm xmlns:a="http://schemas.openxmlformats.org/drawingml/2006/main">
            <a:off x="8001000" y="1600200"/>
            <a:ext cx="3476625" cy="3533775"/>
          </a:xfrm>
          <a:prstGeom xmlns:a="http://schemas.openxmlformats.org/drawingml/2006/main" prst="rect">
            <a:avLst/>
          </a:prstGeom>
        </p:spPr>
      </p:pic>
    </p:spTree>
    <p:extLst>
      <p:ext uri="{BB962C8B-B14F-4D97-AF65-F5344CB8AC3E}">
        <p14:creationId xmlns:p14="http://schemas.microsoft.com/office/powerpoint/2010/main" val="218060019"/>
      </p:ext>
    </p:extLst>
  </p:cSld>
</p:sld>
</file>

<file path=ppt/slides/slide2.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7" name="Token demand sets the backdrop">
            <a:extLst xmlns:a="http://schemas.openxmlformats.org/drawingml/2006/main">
              <a:ext uri="{FF2B5EF4-FFF2-40B4-BE49-F238E27FC236}">
                <a16:creationId xmlns:a16="http://schemas.microsoft.com/office/drawing/2014/main" id="{30533848-57C8-4D6F-8D74-3CB1359FCD57}"/>
              </a:ext>
            </a:extLst>
          </p:cNvPr>
          <p:cNvSpPr>
            <a:spLocks xmlns:a="http://schemas.openxmlformats.org/drawingml/2006/main" noGrp="1"/>
          </p:cNvSpPr>
          <p:nvPr/>
        </p:nvSpPr>
        <p:spPr>
          <a:xfrm xmlns:a="http://schemas.openxmlformats.org/drawingml/2006/main">
            <a:off x="666750" y="485775"/>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a:solidFill>
                  <a:srgbClr val="18181B"/>
                </a:solidFill>
                <a:latin typeface="Liberation Serif"/>
                <a:ea typeface="Liberation Serif"/>
                <a:cs typeface="Liberation Serif"/>
              </a:defRPr>
            </a:pPr>
            <a:r>
              <a:rPr sz="4650">
                <a:solidFill>
                  <a:srgbClr val="18181B"/>
                </a:solidFill>
                <a:latin typeface="Liberation Serif"/>
                <a:ea typeface="Liberation Serif"/>
                <a:cs typeface="Liberation Serif"/>
              </a:rPr>
              <a:t>Token demand sets the backdrop</a:t>
            </a:r>
          </a:p>
        </p:txBody>
      </p:sp>
      <p:sp>
        <p:nvSpPr>
          <p:cNvPr id="2" name="Annual tokens processed, quadrillions">
            <a:extLst xmlns:a="http://schemas.openxmlformats.org/drawingml/2006/main">
              <a:ext uri="{FF2B5EF4-FFF2-40B4-BE49-F238E27FC236}">
                <a16:creationId xmlns:a16="http://schemas.microsoft.com/office/drawing/2014/main" id="{1DCF5073-183C-4298-BBE8-0FCBABD3371C}"/>
              </a:ext>
            </a:extLst>
          </p:cNvPr>
          <p:cNvSpPr>
            <a:spLocks xmlns:a="http://schemas.openxmlformats.org/drawingml/2006/main" noGrp="1"/>
          </p:cNvSpPr>
          <p:nvPr/>
        </p:nvSpPr>
        <p:spPr>
          <a:xfrm xmlns:a="http://schemas.openxmlformats.org/drawingml/2006/main">
            <a:off x="695325" y="15906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52525B"/>
                </a:solidFill>
                <a:latin typeface="Liberation Sans"/>
                <a:ea typeface="Liberation Sans"/>
                <a:cs typeface="Liberation Sans"/>
              </a:defRPr>
            </a:pPr>
            <a:r>
              <a:rPr sz="2175">
                <a:solidFill>
                  <a:srgbClr val="52525B"/>
                </a:solidFill>
                <a:latin typeface="Liberation Sans"/>
                <a:ea typeface="Liberation Sans"/>
                <a:cs typeface="Liberation Sans"/>
              </a:rPr>
              <a:t>Annual tokens processed, quadrillions</a:t>
            </a:r>
          </a:p>
        </p:txBody>
      </p:sp>
      <p:sp>
        <p:nvSpPr>
          <p:cNvPr id="3" name="LongmontAI">
            <a:extLst xmlns:a="http://schemas.openxmlformats.org/drawingml/2006/main">
              <a:ext uri="{FF2B5EF4-FFF2-40B4-BE49-F238E27FC236}">
                <a16:creationId xmlns:a16="http://schemas.microsoft.com/office/drawing/2014/main" id="{3C5B4FD8-F068-4B4C-9FD2-C754BBC41CD3}"/>
              </a:ext>
            </a:extLst>
          </p:cNvPr>
          <p:cNvSpPr>
            <a:spLocks xmlns:a="http://schemas.openxmlformats.org/drawingml/2006/main" noGrp="1"/>
          </p:cNvSpPr>
          <p:nvPr/>
        </p:nvSpPr>
        <p:spPr>
          <a:xfrm xmlns:a="http://schemas.openxmlformats.org/drawingml/2006/main">
            <a:off x="685800" y="63722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a:solidFill>
                  <a:srgbClr val="71717A"/>
                </a:solidFill>
                <a:latin typeface="Liberation Mono"/>
                <a:ea typeface="Liberation Mono"/>
                <a:cs typeface="Liberation Mono"/>
              </a:defRPr>
            </a:pPr>
            <a:r>
              <a:rPr sz="1425">
                <a:solidFill>
                  <a:srgbClr val="71717A"/>
                </a:solidFill>
                <a:latin typeface="Liberation Mono"/>
                <a:ea typeface="Liberation Mono"/>
                <a:cs typeface="Liberation Mono"/>
              </a:rPr>
              <a:t>LongmontAI</a:t>
            </a:r>
          </a:p>
        </p:txBody>
      </p:sp>
      <p:sp>
        <p:nvSpPr>
          <p:cNvPr id="4" name="02">
            <a:extLst xmlns:a="http://schemas.openxmlformats.org/drawingml/2006/main">
              <a:ext uri="{FF2B5EF4-FFF2-40B4-BE49-F238E27FC236}">
                <a16:creationId xmlns:a16="http://schemas.microsoft.com/office/drawing/2014/main" id="{E16A6974-1868-40BA-8C45-63E2A22133E9}"/>
              </a:ext>
            </a:extLst>
          </p:cNvPr>
          <p:cNvSpPr>
            <a:spLocks xmlns:a="http://schemas.openxmlformats.org/drawingml/2006/main" noGrp="1"/>
          </p:cNvSpPr>
          <p:nvPr/>
        </p:nvSpPr>
        <p:spPr>
          <a:xfrm xmlns:a="http://schemas.openxmlformats.org/drawingml/2006/main">
            <a:off x="10906125" y="6372225"/>
            <a:ext cx="600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a:solidFill>
                  <a:srgbClr val="71717A"/>
                </a:solidFill>
                <a:latin typeface="Liberation Mono"/>
                <a:ea typeface="Liberation Mono"/>
                <a:cs typeface="Liberation Mono"/>
              </a:defRPr>
            </a:pPr>
            <a:r>
              <a:rPr sz="1425">
                <a:solidFill>
                  <a:srgbClr val="71717A"/>
                </a:solidFill>
                <a:latin typeface="Liberation Mono"/>
                <a:ea typeface="Liberation Mono"/>
                <a:cs typeface="Liberation Mono"/>
              </a:rPr>
              <a:t>02</a:t>
            </a:r>
          </a:p>
        </p:txBody>
      </p:sp>
      <p:graphicFrame>
        <p:nvGraphicFramePr>
          <p:cNvPr id="11" name="Chart"/>
          <p:cNvGraphicFramePr/>
          <p:nvPr/>
        </p:nvGraphicFramePr>
        <p:xfrm>
          <a:off xmlns:a="http://schemas.openxmlformats.org/drawingml/2006/main" x="742950" y="2190750"/>
          <a:ext xmlns:a="http://schemas.openxmlformats.org/drawingml/2006/main" cx="10620375" cy="3571875"/>
        </p:xfrm>
        <a:graphic xmlns:a="http://schemas.openxmlformats.org/drawingml/2006/main">
          <a:graphicData uri="http://schemas.openxmlformats.org/drawingml/2006/chart">
            <c:chart xmlns:r="http://schemas.openxmlformats.org/officeDocument/2006/relationships" xmlns:c="http://schemas.openxmlformats.org/drawingml/2006/chart" r:id="Rd246d0f90420416c"/>
          </a:graphicData>
        </a:graphic>
      </p:graphicFrame>
      <p:sp>
        <p:nvSpPr>
          <p:cNvPr id="6" name="Altimeter estimate, August 2026. 2026E is an annualized estimate.">
            <a:extLst xmlns:a="http://schemas.openxmlformats.org/drawingml/2006/main">
              <a:ext uri="{FF2B5EF4-FFF2-40B4-BE49-F238E27FC236}">
                <a16:creationId xmlns:a16="http://schemas.microsoft.com/office/drawing/2014/main" id="{4F357ED5-DD21-492D-9DAB-D00D3BA368AD}"/>
              </a:ext>
            </a:extLst>
          </p:cNvPr>
          <p:cNvSpPr>
            <a:spLocks xmlns:a="http://schemas.openxmlformats.org/drawingml/2006/main" noGrp="1"/>
          </p:cNvSpPr>
          <p:nvPr/>
        </p:nvSpPr>
        <p:spPr>
          <a:xfrm xmlns:a="http://schemas.openxmlformats.org/drawingml/2006/main">
            <a:off x="723900" y="58769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a:solidFill>
                  <a:srgbClr val="52525B"/>
                </a:solidFill>
                <a:latin typeface="Liberation Sans"/>
                <a:ea typeface="Liberation Sans"/>
                <a:cs typeface="Liberation Sans"/>
              </a:defRPr>
            </a:pPr>
            <a:r>
              <a:rPr sz="1800">
                <a:solidFill>
                  <a:srgbClr val="52525B"/>
                </a:solidFill>
                <a:latin typeface="Liberation Sans"/>
                <a:ea typeface="Liberation Sans"/>
                <a:cs typeface="Liberation Sans"/>
              </a:rPr>
              <a:t>Altimeter estimate, August 2026. 2026E is an annualized estimate.</a:t>
            </a:r>
          </a:p>
        </p:txBody>
      </p:sp>
    </p:spTree>
    <p:extLst>
      <p:ext uri="{BB962C8B-B14F-4D97-AF65-F5344CB8AC3E}">
        <p14:creationId xmlns:p14="http://schemas.microsoft.com/office/powerpoint/2010/main" val="358531903"/>
      </p:ext>
    </p:extLst>
  </p:cSld>
</p:sld>
</file>

<file path=ppt/slides/slide3.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Three models share the $2 input lane">
            <a:extLst xmlns:a="http://schemas.openxmlformats.org/drawingml/2006/main">
              <a:ext uri="{FF2B5EF4-FFF2-40B4-BE49-F238E27FC236}">
                <a16:creationId xmlns:a16="http://schemas.microsoft.com/office/drawing/2014/main" id="{46822ACE-F866-4EC3-A86F-A3D58635BF76}"/>
              </a:ext>
            </a:extLst>
          </p:cNvPr>
          <p:cNvSpPr>
            <a:spLocks xmlns:a="http://schemas.openxmlformats.org/drawingml/2006/main" noGrp="1"/>
          </p:cNvSpPr>
          <p:nvPr/>
        </p:nvSpPr>
        <p:spPr>
          <a:xfrm xmlns:a="http://schemas.openxmlformats.org/drawingml/2006/main">
            <a:off x="666750" y="485775"/>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a:solidFill>
                  <a:srgbClr val="FFFFFF"/>
                </a:solidFill>
                <a:latin typeface="Liberation Serif"/>
                <a:ea typeface="Liberation Serif"/>
                <a:cs typeface="Liberation Serif"/>
              </a:defRPr>
            </a:pPr>
            <a:r>
              <a:rPr sz="4650">
                <a:solidFill>
                  <a:srgbClr val="FFFFFF"/>
                </a:solidFill>
                <a:latin typeface="Liberation Serif"/>
                <a:ea typeface="Liberation Serif"/>
                <a:cs typeface="Liberation Serif"/>
              </a:rPr>
              <a:t>Three models share the $2 input lane</a:t>
            </a:r>
          </a:p>
        </p:txBody>
      </p:sp>
      <p:sp>
        <p:nvSpPr>
          <p:cNvPr id="2" name="USD per million tokens, standard short context">
            <a:extLst xmlns:a="http://schemas.openxmlformats.org/drawingml/2006/main">
              <a:ext uri="{FF2B5EF4-FFF2-40B4-BE49-F238E27FC236}">
                <a16:creationId xmlns:a16="http://schemas.microsoft.com/office/drawing/2014/main" id="{B241B86D-7FD8-4AAE-AE4F-AF3F6FDCBC1A}"/>
              </a:ext>
            </a:extLst>
          </p:cNvPr>
          <p:cNvSpPr>
            <a:spLocks xmlns:a="http://schemas.openxmlformats.org/drawingml/2006/main" noGrp="1"/>
          </p:cNvSpPr>
          <p:nvPr/>
        </p:nvSpPr>
        <p:spPr>
          <a:xfrm xmlns:a="http://schemas.openxmlformats.org/drawingml/2006/main">
            <a:off x="695325" y="15906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A1A1AA"/>
                </a:solidFill>
                <a:latin typeface="Liberation Sans"/>
                <a:ea typeface="Liberation Sans"/>
                <a:cs typeface="Liberation Sans"/>
              </a:defRPr>
            </a:pPr>
            <a:r>
              <a:rPr sz="2175">
                <a:solidFill>
                  <a:srgbClr val="A1A1AA"/>
                </a:solidFill>
                <a:latin typeface="Liberation Sans"/>
                <a:ea typeface="Liberation Sans"/>
                <a:cs typeface="Liberation Sans"/>
              </a:rPr>
              <a:t>USD per million tokens, standard short context</a:t>
            </a:r>
          </a:p>
        </p:txBody>
      </p:sp>
      <p:sp>
        <p:nvSpPr>
          <p:cNvPr id="3" name="LongmontAI">
            <a:extLst xmlns:a="http://schemas.openxmlformats.org/drawingml/2006/main">
              <a:ext uri="{FF2B5EF4-FFF2-40B4-BE49-F238E27FC236}">
                <a16:creationId xmlns:a16="http://schemas.microsoft.com/office/drawing/2014/main" id="{1C8F7B87-AD1B-45B7-8FB4-89100C8C5C56}"/>
              </a:ext>
            </a:extLst>
          </p:cNvPr>
          <p:cNvSpPr>
            <a:spLocks xmlns:a="http://schemas.openxmlformats.org/drawingml/2006/main" noGrp="1"/>
          </p:cNvSpPr>
          <p:nvPr/>
        </p:nvSpPr>
        <p:spPr>
          <a:xfrm xmlns:a="http://schemas.openxmlformats.org/drawingml/2006/main">
            <a:off x="685800" y="63722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LongmontAI</a:t>
            </a:r>
          </a:p>
        </p:txBody>
      </p:sp>
      <p:sp>
        <p:nvSpPr>
          <p:cNvPr id="4" name="03">
            <a:extLst xmlns:a="http://schemas.openxmlformats.org/drawingml/2006/main">
              <a:ext uri="{FF2B5EF4-FFF2-40B4-BE49-F238E27FC236}">
                <a16:creationId xmlns:a16="http://schemas.microsoft.com/office/drawing/2014/main" id="{EB86575C-2357-42D5-BBBF-56AA5AAE1EBE}"/>
              </a:ext>
            </a:extLst>
          </p:cNvPr>
          <p:cNvSpPr>
            <a:spLocks xmlns:a="http://schemas.openxmlformats.org/drawingml/2006/main" noGrp="1"/>
          </p:cNvSpPr>
          <p:nvPr/>
        </p:nvSpPr>
        <p:spPr>
          <a:xfrm xmlns:a="http://schemas.openxmlformats.org/drawingml/2006/main">
            <a:off x="10906125" y="6372225"/>
            <a:ext cx="600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03</a:t>
            </a:r>
          </a:p>
        </p:txBody>
      </p:sp>
      <p:graphicFrame>
        <p:nvGraphicFramePr>
          <p:cNvPr id="11" name="Chart"/>
          <p:cNvGraphicFramePr/>
          <p:nvPr/>
        </p:nvGraphicFramePr>
        <p:xfrm>
          <a:off xmlns:a="http://schemas.openxmlformats.org/drawingml/2006/main" x="781050" y="2181225"/>
          <a:ext xmlns:a="http://schemas.openxmlformats.org/drawingml/2006/main" cx="10477500" cy="3600450"/>
        </p:xfrm>
        <a:graphic xmlns:a="http://schemas.openxmlformats.org/drawingml/2006/main">
          <a:graphicData uri="http://schemas.openxmlformats.org/drawingml/2006/chart">
            <c:chart xmlns:r="http://schemas.openxmlformats.org/officeDocument/2006/relationships" xmlns:c="http://schemas.openxmlformats.org/drawingml/2006/chart" r:id="R905070014ffa4cdd"/>
          </a:graphicData>
        </a:graphic>
      </p:graphicFrame>
      <p:sp>
        <p:nvSpPr>
          <p:cNvPr id="6" name="List prices. Tools, caching and retries change the cost of a job.">
            <a:extLst xmlns:a="http://schemas.openxmlformats.org/drawingml/2006/main">
              <a:ext uri="{FF2B5EF4-FFF2-40B4-BE49-F238E27FC236}">
                <a16:creationId xmlns:a16="http://schemas.microsoft.com/office/drawing/2014/main" id="{EEA989B7-1981-4932-B1CE-08963E2A4304}"/>
              </a:ext>
            </a:extLst>
          </p:cNvPr>
          <p:cNvSpPr>
            <a:spLocks xmlns:a="http://schemas.openxmlformats.org/drawingml/2006/main" noGrp="1"/>
          </p:cNvSpPr>
          <p:nvPr/>
        </p:nvSpPr>
        <p:spPr>
          <a:xfrm xmlns:a="http://schemas.openxmlformats.org/drawingml/2006/main">
            <a:off x="714375" y="58864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a:solidFill>
                  <a:srgbClr val="A1A1AA"/>
                </a:solidFill>
                <a:latin typeface="Liberation Sans"/>
                <a:ea typeface="Liberation Sans"/>
                <a:cs typeface="Liberation Sans"/>
              </a:defRPr>
            </a:pPr>
            <a:r>
              <a:rPr sz="1800">
                <a:solidFill>
                  <a:srgbClr val="A1A1AA"/>
                </a:solidFill>
                <a:latin typeface="Liberation Sans"/>
                <a:ea typeface="Liberation Sans"/>
                <a:cs typeface="Liberation Sans"/>
              </a:rPr>
              <a:t>List prices. Tools, caching and retries change the cost of a job.</a:t>
            </a:r>
          </a:p>
        </p:txBody>
      </p:sp>
    </p:spTree>
    <p:extLst>
      <p:ext uri="{BB962C8B-B14F-4D97-AF65-F5344CB8AC3E}">
        <p14:creationId xmlns:p14="http://schemas.microsoft.com/office/powerpoint/2010/main" val="313516565"/>
      </p:ext>
    </p:extLst>
  </p:cSld>
</p:sld>
</file>

<file path=ppt/slides/slide4.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9" name="Speed has a separate bill">
            <a:extLst xmlns:a="http://schemas.openxmlformats.org/drawingml/2006/main">
              <a:ext uri="{FF2B5EF4-FFF2-40B4-BE49-F238E27FC236}">
                <a16:creationId xmlns:a16="http://schemas.microsoft.com/office/drawing/2014/main" id="{73C92500-79FC-4AE4-8777-0332301083CC}"/>
              </a:ext>
            </a:extLst>
          </p:cNvPr>
          <p:cNvSpPr>
            <a:spLocks xmlns:a="http://schemas.openxmlformats.org/drawingml/2006/main" noGrp="1"/>
          </p:cNvSpPr>
          <p:nvPr/>
        </p:nvSpPr>
        <p:spPr>
          <a:xfrm xmlns:a="http://schemas.openxmlformats.org/drawingml/2006/main">
            <a:off x="666750" y="485775"/>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a:solidFill>
                  <a:srgbClr val="FFFFFF"/>
                </a:solidFill>
                <a:latin typeface="Liberation Serif"/>
                <a:ea typeface="Liberation Serif"/>
                <a:cs typeface="Liberation Serif"/>
              </a:defRPr>
            </a:pPr>
            <a:r>
              <a:rPr sz="4650">
                <a:solidFill>
                  <a:srgbClr val="FFFFFF"/>
                </a:solidFill>
                <a:latin typeface="Liberation Serif"/>
                <a:ea typeface="Liberation Serif"/>
                <a:cs typeface="Liberation Serif"/>
              </a:rPr>
              <a:t>Speed has a separate bill</a:t>
            </a:r>
          </a:p>
        </p:txBody>
      </p:sp>
      <p:sp>
        <p:nvSpPr>
          <p:cNvPr id="2" name="GPT-6 Astra output, USD per million tokens">
            <a:extLst xmlns:a="http://schemas.openxmlformats.org/drawingml/2006/main">
              <a:ext uri="{FF2B5EF4-FFF2-40B4-BE49-F238E27FC236}">
                <a16:creationId xmlns:a16="http://schemas.microsoft.com/office/drawing/2014/main" id="{D75E58F3-34EC-4BA6-8184-C2129F2CBF34}"/>
              </a:ext>
            </a:extLst>
          </p:cNvPr>
          <p:cNvSpPr>
            <a:spLocks xmlns:a="http://schemas.openxmlformats.org/drawingml/2006/main" noGrp="1"/>
          </p:cNvSpPr>
          <p:nvPr/>
        </p:nvSpPr>
        <p:spPr>
          <a:xfrm xmlns:a="http://schemas.openxmlformats.org/drawingml/2006/main">
            <a:off x="695325" y="15906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A1A1AA"/>
                </a:solidFill>
                <a:latin typeface="Liberation Sans"/>
                <a:ea typeface="Liberation Sans"/>
                <a:cs typeface="Liberation Sans"/>
              </a:defRPr>
            </a:pPr>
            <a:r>
              <a:rPr sz="2175">
                <a:solidFill>
                  <a:srgbClr val="A1A1AA"/>
                </a:solidFill>
                <a:latin typeface="Liberation Sans"/>
                <a:ea typeface="Liberation Sans"/>
                <a:cs typeface="Liberation Sans"/>
              </a:rPr>
              <a:t>GPT-6 Astra output, USD per million tokens</a:t>
            </a:r>
          </a:p>
        </p:txBody>
      </p:sp>
      <p:sp>
        <p:nvSpPr>
          <p:cNvPr id="3" name="LongmontAI">
            <a:extLst xmlns:a="http://schemas.openxmlformats.org/drawingml/2006/main">
              <a:ext uri="{FF2B5EF4-FFF2-40B4-BE49-F238E27FC236}">
                <a16:creationId xmlns:a16="http://schemas.microsoft.com/office/drawing/2014/main" id="{97653AEA-2ED3-4D58-9E7B-F1365416DA0C}"/>
              </a:ext>
            </a:extLst>
          </p:cNvPr>
          <p:cNvSpPr>
            <a:spLocks xmlns:a="http://schemas.openxmlformats.org/drawingml/2006/main" noGrp="1"/>
          </p:cNvSpPr>
          <p:nvPr/>
        </p:nvSpPr>
        <p:spPr>
          <a:xfrm xmlns:a="http://schemas.openxmlformats.org/drawingml/2006/main">
            <a:off x="685800" y="63722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LongmontAI</a:t>
            </a:r>
          </a:p>
        </p:txBody>
      </p:sp>
      <p:sp>
        <p:nvSpPr>
          <p:cNvPr id="4" name="04">
            <a:extLst xmlns:a="http://schemas.openxmlformats.org/drawingml/2006/main">
              <a:ext uri="{FF2B5EF4-FFF2-40B4-BE49-F238E27FC236}">
                <a16:creationId xmlns:a16="http://schemas.microsoft.com/office/drawing/2014/main" id="{D383E23E-70CA-44DE-B63E-42BDF4064510}"/>
              </a:ext>
            </a:extLst>
          </p:cNvPr>
          <p:cNvSpPr>
            <a:spLocks xmlns:a="http://schemas.openxmlformats.org/drawingml/2006/main" noGrp="1"/>
          </p:cNvSpPr>
          <p:nvPr/>
        </p:nvSpPr>
        <p:spPr>
          <a:xfrm xmlns:a="http://schemas.openxmlformats.org/drawingml/2006/main">
            <a:off x="10906125" y="6372225"/>
            <a:ext cx="600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04</a:t>
            </a:r>
          </a:p>
        </p:txBody>
      </p:sp>
      <p:graphicFrame>
        <p:nvGraphicFramePr>
          <p:cNvPr id="13" name="Chart"/>
          <p:cNvGraphicFramePr/>
          <p:nvPr/>
        </p:nvGraphicFramePr>
        <p:xfrm>
          <a:off xmlns:a="http://schemas.openxmlformats.org/drawingml/2006/main" x="609600" y="2257425"/>
          <a:ext xmlns:a="http://schemas.openxmlformats.org/drawingml/2006/main" cx="7239000" cy="3438525"/>
        </p:xfrm>
        <a:graphic xmlns:a="http://schemas.openxmlformats.org/drawingml/2006/main">
          <a:graphicData uri="http://schemas.openxmlformats.org/drawingml/2006/chart">
            <c:chart xmlns:r="http://schemas.openxmlformats.org/officeDocument/2006/relationships" xmlns:c="http://schemas.openxmlformats.org/drawingml/2006/chart" r:id="R504df5b9d2a948f2"/>
          </a:graphicData>
        </a:graphic>
      </p:graphicFrame>
      <p:sp>
        <p:nvSpPr>
          <p:cNvPr id="6" name="6×">
            <a:extLst xmlns:a="http://schemas.openxmlformats.org/drawingml/2006/main">
              <a:ext uri="{FF2B5EF4-FFF2-40B4-BE49-F238E27FC236}">
                <a16:creationId xmlns:a16="http://schemas.microsoft.com/office/drawing/2014/main" id="{5B96A6D7-3058-4074-94B2-09D73971D9F5}"/>
              </a:ext>
            </a:extLst>
          </p:cNvPr>
          <p:cNvSpPr>
            <a:spLocks xmlns:a="http://schemas.openxmlformats.org/drawingml/2006/main" noGrp="1"/>
          </p:cNvSpPr>
          <p:nvPr/>
        </p:nvSpPr>
        <p:spPr>
          <a:xfrm xmlns:a="http://schemas.openxmlformats.org/drawingml/2006/main">
            <a:off x="8572500" y="2314575"/>
            <a:ext cx="285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8400">
                <a:solidFill>
                  <a:srgbClr val="BFDBFE"/>
                </a:solidFill>
                <a:latin typeface="Liberation Serif"/>
                <a:ea typeface="Liberation Serif"/>
                <a:cs typeface="Liberation Serif"/>
              </a:defRPr>
            </a:pPr>
            <a:r>
              <a:rPr sz="8400">
                <a:solidFill>
                  <a:srgbClr val="BFDBFE"/>
                </a:solidFill>
                <a:latin typeface="Liberation Serif"/>
                <a:ea typeface="Liberation Serif"/>
                <a:cs typeface="Liberation Serif"/>
              </a:rPr>
              <a:t>6×</a:t>
            </a:r>
          </a:p>
        </p:txBody>
      </p:sp>
      <p:sp>
        <p:nvSpPr>
          <p:cNvPr id="7" name="token rate">
            <a:extLst xmlns:a="http://schemas.openxmlformats.org/drawingml/2006/main">
              <a:ext uri="{FF2B5EF4-FFF2-40B4-BE49-F238E27FC236}">
                <a16:creationId xmlns:a16="http://schemas.microsoft.com/office/drawing/2014/main" id="{5512454D-B9D8-4D26-870A-1EF0FAA6C233}"/>
              </a:ext>
            </a:extLst>
          </p:cNvPr>
          <p:cNvSpPr>
            <a:spLocks xmlns:a="http://schemas.openxmlformats.org/drawingml/2006/main" noGrp="1"/>
          </p:cNvSpPr>
          <p:nvPr/>
        </p:nvSpPr>
        <p:spPr>
          <a:xfrm xmlns:a="http://schemas.openxmlformats.org/drawingml/2006/main">
            <a:off x="8591550" y="3705225"/>
            <a:ext cx="285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a:solidFill>
                  <a:srgbClr val="FFFFFF"/>
                </a:solidFill>
                <a:latin typeface="Liberation Sans"/>
                <a:ea typeface="Liberation Sans"/>
                <a:cs typeface="Liberation Sans"/>
              </a:defRPr>
            </a:pPr>
            <a:r>
              <a:rPr sz="2850">
                <a:solidFill>
                  <a:srgbClr val="FFFFFF"/>
                </a:solidFill>
                <a:latin typeface="Liberation Sans"/>
                <a:ea typeface="Liberation Sans"/>
                <a:cs typeface="Liberation Sans"/>
              </a:rPr>
              <a:t>token rate</a:t>
            </a:r>
          </a:p>
        </p:txBody>
      </p:sp>
      <p:sp>
        <p:nvSpPr>
          <p:cNvPr id="8" name="OpenAI reports&#10;up to 6× faster&#10;in the API">
            <a:extLst xmlns:a="http://schemas.openxmlformats.org/drawingml/2006/main">
              <a:ext uri="{FF2B5EF4-FFF2-40B4-BE49-F238E27FC236}">
                <a16:creationId xmlns:a16="http://schemas.microsoft.com/office/drawing/2014/main" id="{322ABA7D-3DD8-4BA4-85FD-436A47CFF836}"/>
              </a:ext>
            </a:extLst>
          </p:cNvPr>
          <p:cNvSpPr>
            <a:spLocks xmlns:a="http://schemas.openxmlformats.org/drawingml/2006/main" noGrp="1"/>
          </p:cNvSpPr>
          <p:nvPr/>
        </p:nvSpPr>
        <p:spPr>
          <a:xfrm xmlns:a="http://schemas.openxmlformats.org/drawingml/2006/main">
            <a:off x="8582025" y="4400550"/>
            <a:ext cx="29146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A1A1AA"/>
                </a:solidFill>
                <a:latin typeface="Liberation Sans"/>
                <a:ea typeface="Liberation Sans"/>
                <a:cs typeface="Liberation Sans"/>
              </a:defRPr>
            </a:pPr>
            <a:r>
              <a:rPr sz="2175">
                <a:solidFill>
                  <a:srgbClr val="A1A1AA"/>
                </a:solidFill>
                <a:latin typeface="Liberation Sans"/>
                <a:ea typeface="Liberation Sans"/>
                <a:cs typeface="Liberation Sans"/>
              </a:rPr>
              <a:t>OpenAI reports</a:t>
            </a:r>
          </a:p>
          <a:p xmlns:a="http://schemas.openxmlformats.org/drawingml/2006/main">
            <a:pPr>
              <a:defRPr sz="2175">
                <a:solidFill>
                  <a:srgbClr val="A1A1AA"/>
                </a:solidFill>
                <a:latin typeface="Liberation Sans"/>
                <a:ea typeface="Liberation Sans"/>
                <a:cs typeface="Liberation Sans"/>
              </a:defRPr>
            </a:pPr>
            <a:r>
              <a:rPr sz="2175">
                <a:solidFill>
                  <a:srgbClr val="A1A1AA"/>
                </a:solidFill>
                <a:latin typeface="Liberation Sans"/>
                <a:ea typeface="Liberation Sans"/>
                <a:cs typeface="Liberation Sans"/>
              </a:rPr>
              <a:t>up to 6× faster</a:t>
            </a:r>
          </a:p>
          <a:p xmlns:a="http://schemas.openxmlformats.org/drawingml/2006/main">
            <a:pPr>
              <a:defRPr sz="2175">
                <a:solidFill>
                  <a:srgbClr val="A1A1AA"/>
                </a:solidFill>
                <a:latin typeface="Liberation Sans"/>
                <a:ea typeface="Liberation Sans"/>
                <a:cs typeface="Liberation Sans"/>
              </a:defRPr>
            </a:pPr>
            <a:r>
              <a:rPr sz="2175">
                <a:solidFill>
                  <a:srgbClr val="A1A1AA"/>
                </a:solidFill>
                <a:latin typeface="Liberation Sans"/>
                <a:ea typeface="Liberation Sans"/>
                <a:cs typeface="Liberation Sans"/>
              </a:rPr>
              <a:t>in the API</a:t>
            </a:r>
          </a:p>
        </p:txBody>
      </p:sp>
    </p:spTree>
    <p:extLst>
      <p:ext uri="{BB962C8B-B14F-4D97-AF65-F5344CB8AC3E}">
        <p14:creationId xmlns:p14="http://schemas.microsoft.com/office/powerpoint/2010/main" val="1714295234"/>
      </p:ext>
    </p:extLst>
  </p:cSld>
</p:sld>
</file>

<file path=ppt/slides/slide5.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8" name="Dots keep working after you log off">
            <a:extLst xmlns:a="http://schemas.openxmlformats.org/drawingml/2006/main">
              <a:ext uri="{FF2B5EF4-FFF2-40B4-BE49-F238E27FC236}">
                <a16:creationId xmlns:a16="http://schemas.microsoft.com/office/drawing/2014/main" id="{D8091FCB-1921-4B04-9C9C-F764242BF710}"/>
              </a:ext>
            </a:extLst>
          </p:cNvPr>
          <p:cNvSpPr>
            <a:spLocks xmlns:a="http://schemas.openxmlformats.org/drawingml/2006/main" noGrp="1"/>
          </p:cNvSpPr>
          <p:nvPr/>
        </p:nvSpPr>
        <p:spPr>
          <a:xfrm xmlns:a="http://schemas.openxmlformats.org/drawingml/2006/main">
            <a:off x="666750" y="485775"/>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a:solidFill>
                  <a:srgbClr val="FFFFFF"/>
                </a:solidFill>
                <a:latin typeface="Liberation Serif"/>
                <a:ea typeface="Liberation Serif"/>
                <a:cs typeface="Liberation Serif"/>
              </a:defRPr>
            </a:pPr>
            <a:r>
              <a:rPr sz="4650">
                <a:solidFill>
                  <a:srgbClr val="FFFFFF"/>
                </a:solidFill>
                <a:latin typeface="Liberation Serif"/>
                <a:ea typeface="Liberation Serif"/>
                <a:cs typeface="Liberation Serif"/>
              </a:rPr>
              <a:t>Dots keep working after you log off</a:t>
            </a:r>
          </a:p>
        </p:txBody>
      </p:sp>
      <p:sp>
        <p:nvSpPr>
          <p:cNvPr id="2" name="LongmontAI">
            <a:extLst xmlns:a="http://schemas.openxmlformats.org/drawingml/2006/main">
              <a:ext uri="{FF2B5EF4-FFF2-40B4-BE49-F238E27FC236}">
                <a16:creationId xmlns:a16="http://schemas.microsoft.com/office/drawing/2014/main" id="{EE489905-5E0E-4EF1-9824-5E979184F6FC}"/>
              </a:ext>
            </a:extLst>
          </p:cNvPr>
          <p:cNvSpPr>
            <a:spLocks xmlns:a="http://schemas.openxmlformats.org/drawingml/2006/main" noGrp="1"/>
          </p:cNvSpPr>
          <p:nvPr/>
        </p:nvSpPr>
        <p:spPr>
          <a:xfrm xmlns:a="http://schemas.openxmlformats.org/drawingml/2006/main">
            <a:off x="685800" y="63722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LongmontAI</a:t>
            </a:r>
          </a:p>
        </p:txBody>
      </p:sp>
      <p:sp>
        <p:nvSpPr>
          <p:cNvPr id="3" name="05">
            <a:extLst xmlns:a="http://schemas.openxmlformats.org/drawingml/2006/main">
              <a:ext uri="{FF2B5EF4-FFF2-40B4-BE49-F238E27FC236}">
                <a16:creationId xmlns:a16="http://schemas.microsoft.com/office/drawing/2014/main" id="{8295517D-1285-4F55-8275-08A4260CECF9}"/>
              </a:ext>
            </a:extLst>
          </p:cNvPr>
          <p:cNvSpPr>
            <a:spLocks xmlns:a="http://schemas.openxmlformats.org/drawingml/2006/main" noGrp="1"/>
          </p:cNvSpPr>
          <p:nvPr/>
        </p:nvSpPr>
        <p:spPr>
          <a:xfrm xmlns:a="http://schemas.openxmlformats.org/drawingml/2006/main">
            <a:off x="10906125" y="6372225"/>
            <a:ext cx="600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05</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a497a6f1d60476f"/>
          <a:srcRect xmlns:a="http://schemas.openxmlformats.org/drawingml/2006/main" l="14" t="0" r="14" b="0"/>
          <a:stretch xmlns:a="http://schemas.openxmlformats.org/drawingml/2006/main">
            <a:fillRect l="0" t="0" r="0" b="0"/>
          </a:stretch>
        </p:blipFill>
        <p:spPr>
          <a:xfrm xmlns:a="http://schemas.openxmlformats.org/drawingml/2006/main">
            <a:off x="685800" y="2105025"/>
            <a:ext cx="6572250" cy="3695700"/>
          </a:xfrm>
          <a:prstGeom xmlns:a="http://schemas.openxmlformats.org/drawingml/2006/main" prst="rect">
            <a:avLst/>
          </a:prstGeom>
        </p:spPr>
      </p:pic>
      <p:sp>
        <p:nvSpPr>
          <p:cNvPr id="5" name="GPT-6 Astra">
            <a:extLst xmlns:a="http://schemas.openxmlformats.org/drawingml/2006/main">
              <a:ext uri="{FF2B5EF4-FFF2-40B4-BE49-F238E27FC236}">
                <a16:creationId xmlns:a16="http://schemas.microsoft.com/office/drawing/2014/main" id="{BA082613-7957-40E8-A50D-9E2A341A6D8F}"/>
              </a:ext>
            </a:extLst>
          </p:cNvPr>
          <p:cNvSpPr>
            <a:spLocks xmlns:a="http://schemas.openxmlformats.org/drawingml/2006/main" noGrp="1"/>
          </p:cNvSpPr>
          <p:nvPr/>
        </p:nvSpPr>
        <p:spPr>
          <a:xfrm xmlns:a="http://schemas.openxmlformats.org/drawingml/2006/main">
            <a:off x="7762875" y="2152650"/>
            <a:ext cx="3743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a:solidFill>
                  <a:srgbClr val="BFDBFE"/>
                </a:solidFill>
                <a:latin typeface="Liberation Serif"/>
                <a:ea typeface="Liberation Serif"/>
                <a:cs typeface="Liberation Serif"/>
              </a:defRPr>
            </a:pPr>
            <a:r>
              <a:rPr sz="3300">
                <a:solidFill>
                  <a:srgbClr val="BFDBFE"/>
                </a:solidFill>
                <a:latin typeface="Liberation Serif"/>
                <a:ea typeface="Liberation Serif"/>
                <a:cs typeface="Liberation Serif"/>
              </a:rPr>
              <a:t>GPT-6 Astra</a:t>
            </a:r>
          </a:p>
        </p:txBody>
      </p:sp>
      <p:sp>
        <p:nvSpPr>
          <p:cNvPr id="6" name="Own cloud computer&#10;and browser">
            <a:extLst xmlns:a="http://schemas.openxmlformats.org/drawingml/2006/main">
              <a:ext uri="{FF2B5EF4-FFF2-40B4-BE49-F238E27FC236}">
                <a16:creationId xmlns:a16="http://schemas.microsoft.com/office/drawing/2014/main" id="{F10FDF4A-24A8-471E-90C9-4CA8657BDFF9}"/>
              </a:ext>
            </a:extLst>
          </p:cNvPr>
          <p:cNvSpPr>
            <a:spLocks xmlns:a="http://schemas.openxmlformats.org/drawingml/2006/main" noGrp="1"/>
          </p:cNvSpPr>
          <p:nvPr/>
        </p:nvSpPr>
        <p:spPr>
          <a:xfrm xmlns:a="http://schemas.openxmlformats.org/drawingml/2006/main">
            <a:off x="7781925" y="3152775"/>
            <a:ext cx="3733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a:solidFill>
                  <a:srgbClr val="FFFFFF"/>
                </a:solidFill>
                <a:latin typeface="Liberation Sans"/>
                <a:ea typeface="Liberation Sans"/>
                <a:cs typeface="Liberation Sans"/>
              </a:defRPr>
            </a:pPr>
            <a:r>
              <a:rPr sz="2850">
                <a:solidFill>
                  <a:srgbClr val="FFFFFF"/>
                </a:solidFill>
                <a:latin typeface="Liberation Sans"/>
                <a:ea typeface="Liberation Sans"/>
                <a:cs typeface="Liberation Sans"/>
              </a:rPr>
              <a:t>Own cloud computer</a:t>
            </a:r>
          </a:p>
          <a:p xmlns:a="http://schemas.openxmlformats.org/drawingml/2006/main">
            <a:pPr>
              <a:defRPr sz="2850">
                <a:solidFill>
                  <a:srgbClr val="FFFFFF"/>
                </a:solidFill>
                <a:latin typeface="Liberation Sans"/>
                <a:ea typeface="Liberation Sans"/>
                <a:cs typeface="Liberation Sans"/>
              </a:defRPr>
            </a:pPr>
            <a:r>
              <a:rPr sz="2850">
                <a:solidFill>
                  <a:srgbClr val="FFFFFF"/>
                </a:solidFill>
                <a:latin typeface="Liberation Sans"/>
                <a:ea typeface="Liberation Sans"/>
                <a:cs typeface="Liberation Sans"/>
              </a:rPr>
              <a:t>and browser</a:t>
            </a:r>
          </a:p>
        </p:txBody>
      </p:sp>
      <p:sp>
        <p:nvSpPr>
          <p:cNvPr id="7" name="4,000+&#10;connected apps">
            <a:extLst xmlns:a="http://schemas.openxmlformats.org/drawingml/2006/main">
              <a:ext uri="{FF2B5EF4-FFF2-40B4-BE49-F238E27FC236}">
                <a16:creationId xmlns:a16="http://schemas.microsoft.com/office/drawing/2014/main" id="{BDB97516-C3B1-478E-AD2A-4DE89BFBE3E9}"/>
              </a:ext>
            </a:extLst>
          </p:cNvPr>
          <p:cNvSpPr>
            <a:spLocks xmlns:a="http://schemas.openxmlformats.org/drawingml/2006/main" noGrp="1"/>
          </p:cNvSpPr>
          <p:nvPr/>
        </p:nvSpPr>
        <p:spPr>
          <a:xfrm xmlns:a="http://schemas.openxmlformats.org/drawingml/2006/main">
            <a:off x="7781925" y="4676775"/>
            <a:ext cx="373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a:solidFill>
                  <a:srgbClr val="FFFFFF"/>
                </a:solidFill>
                <a:latin typeface="Liberation Sans"/>
                <a:ea typeface="Liberation Sans"/>
                <a:cs typeface="Liberation Sans"/>
              </a:defRPr>
            </a:pPr>
            <a:r>
              <a:rPr sz="2850">
                <a:solidFill>
                  <a:srgbClr val="FFFFFF"/>
                </a:solidFill>
                <a:latin typeface="Liberation Sans"/>
                <a:ea typeface="Liberation Sans"/>
                <a:cs typeface="Liberation Sans"/>
              </a:rPr>
              <a:t>4,000+</a:t>
            </a:r>
          </a:p>
          <a:p xmlns:a="http://schemas.openxmlformats.org/drawingml/2006/main">
            <a:pPr>
              <a:defRPr sz="2850">
                <a:solidFill>
                  <a:srgbClr val="FFFFFF"/>
                </a:solidFill>
                <a:latin typeface="Liberation Sans"/>
                <a:ea typeface="Liberation Sans"/>
                <a:cs typeface="Liberation Sans"/>
              </a:defRPr>
            </a:pPr>
            <a:r>
              <a:rPr sz="2850">
                <a:solidFill>
                  <a:srgbClr val="FFFFFF"/>
                </a:solidFill>
                <a:latin typeface="Liberation Sans"/>
                <a:ea typeface="Liberation Sans"/>
                <a:cs typeface="Liberation Sans"/>
              </a:rPr>
              <a:t>connected apps</a:t>
            </a:r>
          </a:p>
        </p:txBody>
      </p:sp>
    </p:spTree>
    <p:extLst>
      <p:ext uri="{BB962C8B-B14F-4D97-AF65-F5344CB8AC3E}">
        <p14:creationId xmlns:p14="http://schemas.microsoft.com/office/powerpoint/2010/main" val="1004216990"/>
      </p:ext>
    </p:extLst>
  </p:cSld>
</p:sld>
</file>

<file path=ppt/slides/slide6.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8" name="Codex work continues in the cloud">
            <a:extLst xmlns:a="http://schemas.openxmlformats.org/drawingml/2006/main">
              <a:ext uri="{FF2B5EF4-FFF2-40B4-BE49-F238E27FC236}">
                <a16:creationId xmlns:a16="http://schemas.microsoft.com/office/drawing/2014/main" id="{8F0A1417-DAAC-4328-B75B-18008411C3C2}"/>
              </a:ext>
            </a:extLst>
          </p:cNvPr>
          <p:cNvSpPr>
            <a:spLocks xmlns:a="http://schemas.openxmlformats.org/drawingml/2006/main" noGrp="1"/>
          </p:cNvSpPr>
          <p:nvPr/>
        </p:nvSpPr>
        <p:spPr>
          <a:xfrm xmlns:a="http://schemas.openxmlformats.org/drawingml/2006/main">
            <a:off x="666750" y="485775"/>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a:solidFill>
                  <a:srgbClr val="FFFFFF"/>
                </a:solidFill>
                <a:latin typeface="Liberation Serif"/>
                <a:ea typeface="Liberation Serif"/>
                <a:cs typeface="Liberation Serif"/>
              </a:defRPr>
            </a:pPr>
            <a:r>
              <a:rPr sz="4650">
                <a:solidFill>
                  <a:srgbClr val="FFFFFF"/>
                </a:solidFill>
                <a:latin typeface="Liberation Serif"/>
                <a:ea typeface="Liberation Serif"/>
                <a:cs typeface="Liberation Serif"/>
              </a:rPr>
              <a:t>Codex work continues in the cloud</a:t>
            </a:r>
          </a:p>
        </p:txBody>
      </p:sp>
      <p:sp>
        <p:nvSpPr>
          <p:cNvPr id="2" name="LongmontAI">
            <a:extLst xmlns:a="http://schemas.openxmlformats.org/drawingml/2006/main">
              <a:ext uri="{FF2B5EF4-FFF2-40B4-BE49-F238E27FC236}">
                <a16:creationId xmlns:a16="http://schemas.microsoft.com/office/drawing/2014/main" id="{80A36E4D-0B11-4314-B8E0-5B0310031F50}"/>
              </a:ext>
            </a:extLst>
          </p:cNvPr>
          <p:cNvSpPr>
            <a:spLocks xmlns:a="http://schemas.openxmlformats.org/drawingml/2006/main" noGrp="1"/>
          </p:cNvSpPr>
          <p:nvPr/>
        </p:nvSpPr>
        <p:spPr>
          <a:xfrm xmlns:a="http://schemas.openxmlformats.org/drawingml/2006/main">
            <a:off x="685800" y="63722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LongmontAI</a:t>
            </a:r>
          </a:p>
        </p:txBody>
      </p:sp>
      <p:sp>
        <p:nvSpPr>
          <p:cNvPr id="3" name="06">
            <a:extLst xmlns:a="http://schemas.openxmlformats.org/drawingml/2006/main">
              <a:ext uri="{FF2B5EF4-FFF2-40B4-BE49-F238E27FC236}">
                <a16:creationId xmlns:a16="http://schemas.microsoft.com/office/drawing/2014/main" id="{4D17D54B-D9FA-4C71-BCC2-A88A0CFFA33D}"/>
              </a:ext>
            </a:extLst>
          </p:cNvPr>
          <p:cNvSpPr>
            <a:spLocks xmlns:a="http://schemas.openxmlformats.org/drawingml/2006/main" noGrp="1"/>
          </p:cNvSpPr>
          <p:nvPr/>
        </p:nvSpPr>
        <p:spPr>
          <a:xfrm xmlns:a="http://schemas.openxmlformats.org/drawingml/2006/main">
            <a:off x="10906125" y="6372225"/>
            <a:ext cx="600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06</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08f038cf5b34b59"/>
          <a:srcRect xmlns:a="http://schemas.openxmlformats.org/drawingml/2006/main" l="0" t="6522" r="0" b="6522"/>
          <a:stretch xmlns:a="http://schemas.openxmlformats.org/drawingml/2006/main">
            <a:fillRect l="0" t="0" r="0" b="0"/>
          </a:stretch>
        </p:blipFill>
        <p:spPr>
          <a:xfrm xmlns:a="http://schemas.openxmlformats.org/drawingml/2006/main">
            <a:off x="676275" y="1962150"/>
            <a:ext cx="7620000" cy="3724275"/>
          </a:xfrm>
          <a:prstGeom xmlns:a="http://schemas.openxmlformats.org/drawingml/2006/main" prst="rect">
            <a:avLst/>
          </a:prstGeom>
        </p:spPr>
      </p:pic>
      <p:sp>
        <p:nvSpPr>
          <p:cNvPr id="5" name="Reusable&#10;environments">
            <a:extLst xmlns:a="http://schemas.openxmlformats.org/drawingml/2006/main">
              <a:ext uri="{FF2B5EF4-FFF2-40B4-BE49-F238E27FC236}">
                <a16:creationId xmlns:a16="http://schemas.microsoft.com/office/drawing/2014/main" id="{54A9D894-7093-4F34-BA35-B28080DD2882}"/>
              </a:ext>
            </a:extLst>
          </p:cNvPr>
          <p:cNvSpPr>
            <a:spLocks xmlns:a="http://schemas.openxmlformats.org/drawingml/2006/main" noGrp="1"/>
          </p:cNvSpPr>
          <p:nvPr/>
        </p:nvSpPr>
        <p:spPr>
          <a:xfrm xmlns:a="http://schemas.openxmlformats.org/drawingml/2006/main">
            <a:off x="8734425" y="2190750"/>
            <a:ext cx="2762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a:solidFill>
                  <a:srgbClr val="FFFFFF"/>
                </a:solidFill>
                <a:latin typeface="Liberation Sans"/>
                <a:ea typeface="Liberation Sans"/>
                <a:cs typeface="Liberation Sans"/>
              </a:defRPr>
            </a:pPr>
            <a:r>
              <a:rPr sz="2775">
                <a:solidFill>
                  <a:srgbClr val="FFFFFF"/>
                </a:solidFill>
                <a:latin typeface="Liberation Sans"/>
                <a:ea typeface="Liberation Sans"/>
                <a:cs typeface="Liberation Sans"/>
              </a:rPr>
              <a:t>Reusable</a:t>
            </a:r>
          </a:p>
          <a:p xmlns:a="http://schemas.openxmlformats.org/drawingml/2006/main">
            <a:pPr>
              <a:defRPr sz="2775">
                <a:solidFill>
                  <a:srgbClr val="FFFFFF"/>
                </a:solidFill>
                <a:latin typeface="Liberation Sans"/>
                <a:ea typeface="Liberation Sans"/>
                <a:cs typeface="Liberation Sans"/>
              </a:defRPr>
            </a:pPr>
            <a:r>
              <a:rPr sz="2775">
                <a:solidFill>
                  <a:srgbClr val="FFFFFF"/>
                </a:solidFill>
                <a:latin typeface="Liberation Sans"/>
                <a:ea typeface="Liberation Sans"/>
                <a:cs typeface="Liberation Sans"/>
              </a:rPr>
              <a:t>environments</a:t>
            </a:r>
          </a:p>
        </p:txBody>
      </p:sp>
      <p:sp>
        <p:nvSpPr>
          <p:cNvPr id="6" name="Automatic&#10;code review">
            <a:extLst xmlns:a="http://schemas.openxmlformats.org/drawingml/2006/main">
              <a:ext uri="{FF2B5EF4-FFF2-40B4-BE49-F238E27FC236}">
                <a16:creationId xmlns:a16="http://schemas.microsoft.com/office/drawing/2014/main" id="{613B4D9E-6D87-4535-8F3F-4121AE0C8200}"/>
              </a:ext>
            </a:extLst>
          </p:cNvPr>
          <p:cNvSpPr>
            <a:spLocks xmlns:a="http://schemas.openxmlformats.org/drawingml/2006/main" noGrp="1"/>
          </p:cNvSpPr>
          <p:nvPr/>
        </p:nvSpPr>
        <p:spPr>
          <a:xfrm xmlns:a="http://schemas.openxmlformats.org/drawingml/2006/main">
            <a:off x="8734425" y="3600450"/>
            <a:ext cx="2762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a:solidFill>
                  <a:srgbClr val="FFFFFF"/>
                </a:solidFill>
                <a:latin typeface="Liberation Sans"/>
                <a:ea typeface="Liberation Sans"/>
                <a:cs typeface="Liberation Sans"/>
              </a:defRPr>
            </a:pPr>
            <a:r>
              <a:rPr sz="2775">
                <a:solidFill>
                  <a:srgbClr val="FFFFFF"/>
                </a:solidFill>
                <a:latin typeface="Liberation Sans"/>
                <a:ea typeface="Liberation Sans"/>
                <a:cs typeface="Liberation Sans"/>
              </a:rPr>
              <a:t>Automatic</a:t>
            </a:r>
          </a:p>
          <a:p xmlns:a="http://schemas.openxmlformats.org/drawingml/2006/main">
            <a:pPr>
              <a:defRPr sz="2775">
                <a:solidFill>
                  <a:srgbClr val="FFFFFF"/>
                </a:solidFill>
                <a:latin typeface="Liberation Sans"/>
                <a:ea typeface="Liberation Sans"/>
                <a:cs typeface="Liberation Sans"/>
              </a:defRPr>
            </a:pPr>
            <a:r>
              <a:rPr sz="2775">
                <a:solidFill>
                  <a:srgbClr val="FFFFFF"/>
                </a:solidFill>
                <a:latin typeface="Liberation Sans"/>
                <a:ea typeface="Liberation Sans"/>
                <a:cs typeface="Liberation Sans"/>
              </a:rPr>
              <a:t>code review</a:t>
            </a:r>
          </a:p>
        </p:txBody>
      </p:sp>
      <p:sp>
        <p:nvSpPr>
          <p:cNvPr id="7" name="Security&#10;Cloud scans">
            <a:extLst xmlns:a="http://schemas.openxmlformats.org/drawingml/2006/main">
              <a:ext uri="{FF2B5EF4-FFF2-40B4-BE49-F238E27FC236}">
                <a16:creationId xmlns:a16="http://schemas.microsoft.com/office/drawing/2014/main" id="{5EFEF6CD-85A9-48A7-AE1E-5FD86C0964FE}"/>
              </a:ext>
            </a:extLst>
          </p:cNvPr>
          <p:cNvSpPr>
            <a:spLocks xmlns:a="http://schemas.openxmlformats.org/drawingml/2006/main" noGrp="1"/>
          </p:cNvSpPr>
          <p:nvPr/>
        </p:nvSpPr>
        <p:spPr>
          <a:xfrm xmlns:a="http://schemas.openxmlformats.org/drawingml/2006/main">
            <a:off x="8734425" y="4991100"/>
            <a:ext cx="2762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a:solidFill>
                  <a:srgbClr val="BFDBFE"/>
                </a:solidFill>
                <a:latin typeface="Liberation Sans"/>
                <a:ea typeface="Liberation Sans"/>
                <a:cs typeface="Liberation Sans"/>
              </a:defRPr>
            </a:pPr>
            <a:r>
              <a:rPr sz="2775">
                <a:solidFill>
                  <a:srgbClr val="BFDBFE"/>
                </a:solidFill>
                <a:latin typeface="Liberation Sans"/>
                <a:ea typeface="Liberation Sans"/>
                <a:cs typeface="Liberation Sans"/>
              </a:rPr>
              <a:t>Security</a:t>
            </a:r>
          </a:p>
          <a:p xmlns:a="http://schemas.openxmlformats.org/drawingml/2006/main">
            <a:pPr>
              <a:defRPr sz="2775">
                <a:solidFill>
                  <a:srgbClr val="BFDBFE"/>
                </a:solidFill>
                <a:latin typeface="Liberation Sans"/>
                <a:ea typeface="Liberation Sans"/>
                <a:cs typeface="Liberation Sans"/>
              </a:defRPr>
            </a:pPr>
            <a:r>
              <a:rPr sz="2775">
                <a:solidFill>
                  <a:srgbClr val="BFDBFE"/>
                </a:solidFill>
                <a:latin typeface="Liberation Sans"/>
                <a:ea typeface="Liberation Sans"/>
                <a:cs typeface="Liberation Sans"/>
              </a:rPr>
              <a:t>Cloud scans</a:t>
            </a:r>
          </a:p>
        </p:txBody>
      </p:sp>
    </p:spTree>
    <p:extLst>
      <p:ext uri="{BB962C8B-B14F-4D97-AF65-F5344CB8AC3E}">
        <p14:creationId xmlns:p14="http://schemas.microsoft.com/office/powerpoint/2010/main" val="211536802"/>
      </p:ext>
    </p:extLst>
  </p:cSld>
</p:sld>
</file>

<file path=ppt/slides/slide7.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9" name="DevDay availability matters">
            <a:extLst xmlns:a="http://schemas.openxmlformats.org/drawingml/2006/main">
              <a:ext uri="{FF2B5EF4-FFF2-40B4-BE49-F238E27FC236}">
                <a16:creationId xmlns:a16="http://schemas.microsoft.com/office/drawing/2014/main" id="{20D0F650-B7FF-4CCD-B9B8-CFCF09919BFF}"/>
              </a:ext>
            </a:extLst>
          </p:cNvPr>
          <p:cNvSpPr>
            <a:spLocks xmlns:a="http://schemas.openxmlformats.org/drawingml/2006/main" noGrp="1"/>
          </p:cNvSpPr>
          <p:nvPr/>
        </p:nvSpPr>
        <p:spPr>
          <a:xfrm xmlns:a="http://schemas.openxmlformats.org/drawingml/2006/main">
            <a:off x="666750" y="485775"/>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a:solidFill>
                  <a:srgbClr val="18181B"/>
                </a:solidFill>
                <a:latin typeface="Liberation Serif"/>
                <a:ea typeface="Liberation Serif"/>
                <a:cs typeface="Liberation Serif"/>
              </a:defRPr>
            </a:pPr>
            <a:r>
              <a:rPr sz="4650">
                <a:solidFill>
                  <a:srgbClr val="18181B"/>
                </a:solidFill>
                <a:latin typeface="Liberation Serif"/>
                <a:ea typeface="Liberation Serif"/>
                <a:cs typeface="Liberation Serif"/>
              </a:rPr>
              <a:t>DevDay availability matters</a:t>
            </a:r>
          </a:p>
        </p:txBody>
      </p:sp>
      <p:sp>
        <p:nvSpPr>
          <p:cNvPr id="2" name="LongmontAI">
            <a:extLst xmlns:a="http://schemas.openxmlformats.org/drawingml/2006/main">
              <a:ext uri="{FF2B5EF4-FFF2-40B4-BE49-F238E27FC236}">
                <a16:creationId xmlns:a16="http://schemas.microsoft.com/office/drawing/2014/main" id="{08EA9C4D-452A-4439-9923-BE5A5F97D572}"/>
              </a:ext>
            </a:extLst>
          </p:cNvPr>
          <p:cNvSpPr>
            <a:spLocks xmlns:a="http://schemas.openxmlformats.org/drawingml/2006/main" noGrp="1"/>
          </p:cNvSpPr>
          <p:nvPr/>
        </p:nvSpPr>
        <p:spPr>
          <a:xfrm xmlns:a="http://schemas.openxmlformats.org/drawingml/2006/main">
            <a:off x="685800" y="63722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a:solidFill>
                  <a:srgbClr val="71717A"/>
                </a:solidFill>
                <a:latin typeface="Liberation Mono"/>
                <a:ea typeface="Liberation Mono"/>
                <a:cs typeface="Liberation Mono"/>
              </a:defRPr>
            </a:pPr>
            <a:r>
              <a:rPr sz="1425">
                <a:solidFill>
                  <a:srgbClr val="71717A"/>
                </a:solidFill>
                <a:latin typeface="Liberation Mono"/>
                <a:ea typeface="Liberation Mono"/>
                <a:cs typeface="Liberation Mono"/>
              </a:rPr>
              <a:t>LongmontAI</a:t>
            </a:r>
          </a:p>
        </p:txBody>
      </p:sp>
      <p:sp>
        <p:nvSpPr>
          <p:cNvPr id="3" name="07">
            <a:extLst xmlns:a="http://schemas.openxmlformats.org/drawingml/2006/main">
              <a:ext uri="{FF2B5EF4-FFF2-40B4-BE49-F238E27FC236}">
                <a16:creationId xmlns:a16="http://schemas.microsoft.com/office/drawing/2014/main" id="{CC6B57B1-E47E-48B3-84C1-2497269D8617}"/>
              </a:ext>
            </a:extLst>
          </p:cNvPr>
          <p:cNvSpPr>
            <a:spLocks xmlns:a="http://schemas.openxmlformats.org/drawingml/2006/main" noGrp="1"/>
          </p:cNvSpPr>
          <p:nvPr/>
        </p:nvSpPr>
        <p:spPr>
          <a:xfrm xmlns:a="http://schemas.openxmlformats.org/drawingml/2006/main">
            <a:off x="10906125" y="6372225"/>
            <a:ext cx="600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a:solidFill>
                  <a:srgbClr val="71717A"/>
                </a:solidFill>
                <a:latin typeface="Liberation Mono"/>
                <a:ea typeface="Liberation Mono"/>
                <a:cs typeface="Liberation Mono"/>
              </a:defRPr>
            </a:pPr>
            <a:r>
              <a:rPr sz="1425">
                <a:solidFill>
                  <a:srgbClr val="71717A"/>
                </a:solidFill>
                <a:latin typeface="Liberation Mono"/>
                <a:ea typeface="Liberation Mono"/>
                <a:cs typeface="Liberation Mono"/>
              </a:rPr>
              <a:t>07</a:t>
            </a:r>
          </a:p>
        </p:txBody>
      </p:sp>
      <p:sp>
        <p:nvSpPr>
          <p:cNvPr id="4" name="Available / rolling out">
            <a:extLst xmlns:a="http://schemas.openxmlformats.org/drawingml/2006/main">
              <a:ext uri="{FF2B5EF4-FFF2-40B4-BE49-F238E27FC236}">
                <a16:creationId xmlns:a16="http://schemas.microsoft.com/office/drawing/2014/main" id="{E75185BE-BD07-44BD-9693-BC38B9E03B7F}"/>
              </a:ext>
            </a:extLst>
          </p:cNvPr>
          <p:cNvSpPr>
            <a:spLocks xmlns:a="http://schemas.openxmlformats.org/drawingml/2006/main" noGrp="1"/>
          </p:cNvSpPr>
          <p:nvPr/>
        </p:nvSpPr>
        <p:spPr>
          <a:xfrm xmlns:a="http://schemas.openxmlformats.org/drawingml/2006/main">
            <a:off x="723900" y="2000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a:solidFill>
                  <a:srgbClr val="2563EB"/>
                </a:solidFill>
                <a:latin typeface="Liberation Mono"/>
                <a:ea typeface="Liberation Mono"/>
                <a:cs typeface="Liberation Mono"/>
              </a:defRPr>
            </a:pPr>
            <a:r>
              <a:rPr sz="2325">
                <a:solidFill>
                  <a:srgbClr val="2563EB"/>
                </a:solidFill>
                <a:latin typeface="Liberation Mono"/>
                <a:ea typeface="Liberation Mono"/>
                <a:cs typeface="Liberation Mono"/>
              </a:rPr>
              <a:t>Available / rolling out</a:t>
            </a:r>
          </a:p>
        </p:txBody>
      </p:sp>
      <p:sp>
        <p:nvSpPr>
          <p:cNvPr id="5" name="Preview / coming">
            <a:extLst xmlns:a="http://schemas.openxmlformats.org/drawingml/2006/main">
              <a:ext uri="{FF2B5EF4-FFF2-40B4-BE49-F238E27FC236}">
                <a16:creationId xmlns:a16="http://schemas.microsoft.com/office/drawing/2014/main" id="{D00DE38C-D1EA-4B48-A39C-5914B9C591D2}"/>
              </a:ext>
            </a:extLst>
          </p:cNvPr>
          <p:cNvSpPr>
            <a:spLocks xmlns:a="http://schemas.openxmlformats.org/drawingml/2006/main" noGrp="1"/>
          </p:cNvSpPr>
          <p:nvPr/>
        </p:nvSpPr>
        <p:spPr>
          <a:xfrm xmlns:a="http://schemas.openxmlformats.org/drawingml/2006/main">
            <a:off x="6610350" y="200025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a:solidFill>
                  <a:srgbClr val="52525B"/>
                </a:solidFill>
                <a:latin typeface="Liberation Mono"/>
                <a:ea typeface="Liberation Mono"/>
                <a:cs typeface="Liberation Mono"/>
              </a:defRPr>
            </a:pPr>
            <a:r>
              <a:rPr sz="2325">
                <a:solidFill>
                  <a:srgbClr val="52525B"/>
                </a:solidFill>
                <a:latin typeface="Liberation Mono"/>
                <a:ea typeface="Liberation Mono"/>
                <a:cs typeface="Liberation Mono"/>
              </a:rPr>
              <a:t>Preview / coming</a:t>
            </a:r>
          </a:p>
        </p:txBody>
      </p:sp>
      <p:sp>
        <p:nvSpPr>
          <p:cNvPr id="6" name="Astra Ultrafast&#10;Codex cloud&#10;Dots">
            <a:extLst xmlns:a="http://schemas.openxmlformats.org/drawingml/2006/main">
              <a:ext uri="{FF2B5EF4-FFF2-40B4-BE49-F238E27FC236}">
                <a16:creationId xmlns:a16="http://schemas.microsoft.com/office/drawing/2014/main" id="{F933F70E-2282-47B0-901B-8D95451C0550}"/>
              </a:ext>
            </a:extLst>
          </p:cNvPr>
          <p:cNvSpPr>
            <a:spLocks xmlns:a="http://schemas.openxmlformats.org/drawingml/2006/main" noGrp="1"/>
          </p:cNvSpPr>
          <p:nvPr/>
        </p:nvSpPr>
        <p:spPr>
          <a:xfrm xmlns:a="http://schemas.openxmlformats.org/drawingml/2006/main">
            <a:off x="723900" y="2886075"/>
            <a:ext cx="5029200"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55000"/>
              </a:lnSpc>
              <a:buNone/>
              <a:defRPr sz="3600">
                <a:solidFill>
                  <a:srgbClr val="18181B"/>
                </a:solidFill>
                <a:latin typeface="Liberation Serif"/>
                <a:ea typeface="Liberation Serif"/>
                <a:cs typeface="Liberation Serif"/>
              </a:defRPr>
            </a:pPr>
            <a:r>
              <a:rPr sz="3600">
                <a:solidFill>
                  <a:srgbClr val="18181B"/>
                </a:solidFill>
                <a:latin typeface="Liberation Serif"/>
                <a:ea typeface="Liberation Serif"/>
                <a:cs typeface="Liberation Serif"/>
              </a:rPr>
              <a:t>Astra Ultrafast</a:t>
            </a:r>
          </a:p>
          <a:p xmlns:a="http://schemas.openxmlformats.org/drawingml/2006/main">
            <a:pPr>
              <a:lnSpc>
                <a:spcPct val="155000"/>
              </a:lnSpc>
              <a:buNone/>
              <a:defRPr sz="3600">
                <a:solidFill>
                  <a:srgbClr val="18181B"/>
                </a:solidFill>
                <a:latin typeface="Liberation Serif"/>
                <a:ea typeface="Liberation Serif"/>
                <a:cs typeface="Liberation Serif"/>
              </a:defRPr>
            </a:pPr>
            <a:r>
              <a:rPr sz="3600">
                <a:solidFill>
                  <a:srgbClr val="18181B"/>
                </a:solidFill>
                <a:latin typeface="Liberation Serif"/>
                <a:ea typeface="Liberation Serif"/>
                <a:cs typeface="Liberation Serif"/>
              </a:rPr>
              <a:t>Codex cloud</a:t>
            </a:r>
          </a:p>
          <a:p xmlns:a="http://schemas.openxmlformats.org/drawingml/2006/main">
            <a:pPr>
              <a:lnSpc>
                <a:spcPct val="155000"/>
              </a:lnSpc>
              <a:buNone/>
              <a:defRPr sz="3600">
                <a:solidFill>
                  <a:srgbClr val="18181B"/>
                </a:solidFill>
                <a:latin typeface="Liberation Serif"/>
                <a:ea typeface="Liberation Serif"/>
                <a:cs typeface="Liberation Serif"/>
              </a:defRPr>
            </a:pPr>
            <a:r>
              <a:rPr sz="3600">
                <a:solidFill>
                  <a:srgbClr val="18181B"/>
                </a:solidFill>
                <a:latin typeface="Liberation Serif"/>
                <a:ea typeface="Liberation Serif"/>
                <a:cs typeface="Liberation Serif"/>
              </a:rPr>
              <a:t>Dots</a:t>
            </a:r>
          </a:p>
        </p:txBody>
      </p:sp>
      <p:sp>
        <p:nvSpPr>
          <p:cNvPr id="7" name="Decisions API&#10;Private Inference&#10;Collaborative slides">
            <a:extLst xmlns:a="http://schemas.openxmlformats.org/drawingml/2006/main">
              <a:ext uri="{FF2B5EF4-FFF2-40B4-BE49-F238E27FC236}">
                <a16:creationId xmlns:a16="http://schemas.microsoft.com/office/drawing/2014/main" id="{AD05C968-7ECD-47A4-AAD4-488E9DB5FCA6}"/>
              </a:ext>
            </a:extLst>
          </p:cNvPr>
          <p:cNvSpPr>
            <a:spLocks xmlns:a="http://schemas.openxmlformats.org/drawingml/2006/main" noGrp="1"/>
          </p:cNvSpPr>
          <p:nvPr/>
        </p:nvSpPr>
        <p:spPr>
          <a:xfrm xmlns:a="http://schemas.openxmlformats.org/drawingml/2006/main">
            <a:off x="6610350" y="2886075"/>
            <a:ext cx="4943475"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55000"/>
              </a:lnSpc>
              <a:buNone/>
              <a:defRPr sz="3300">
                <a:solidFill>
                  <a:srgbClr val="18181B"/>
                </a:solidFill>
                <a:latin typeface="Liberation Serif"/>
                <a:ea typeface="Liberation Serif"/>
                <a:cs typeface="Liberation Serif"/>
              </a:defRPr>
            </a:pPr>
            <a:r>
              <a:rPr sz="3300">
                <a:solidFill>
                  <a:srgbClr val="18181B"/>
                </a:solidFill>
                <a:latin typeface="Liberation Serif"/>
                <a:ea typeface="Liberation Serif"/>
                <a:cs typeface="Liberation Serif"/>
              </a:rPr>
              <a:t>Decisions API</a:t>
            </a:r>
          </a:p>
          <a:p xmlns:a="http://schemas.openxmlformats.org/drawingml/2006/main">
            <a:pPr>
              <a:lnSpc>
                <a:spcPct val="155000"/>
              </a:lnSpc>
              <a:buNone/>
              <a:defRPr sz="3300">
                <a:solidFill>
                  <a:srgbClr val="18181B"/>
                </a:solidFill>
                <a:latin typeface="Liberation Serif"/>
                <a:ea typeface="Liberation Serif"/>
                <a:cs typeface="Liberation Serif"/>
              </a:defRPr>
            </a:pPr>
            <a:r>
              <a:rPr sz="3300">
                <a:solidFill>
                  <a:srgbClr val="18181B"/>
                </a:solidFill>
                <a:latin typeface="Liberation Serif"/>
                <a:ea typeface="Liberation Serif"/>
                <a:cs typeface="Liberation Serif"/>
              </a:rPr>
              <a:t>Private Inference</a:t>
            </a:r>
          </a:p>
          <a:p xmlns:a="http://schemas.openxmlformats.org/drawingml/2006/main">
            <a:pPr>
              <a:lnSpc>
                <a:spcPct val="155000"/>
              </a:lnSpc>
              <a:buNone/>
              <a:defRPr sz="3300">
                <a:solidFill>
                  <a:srgbClr val="18181B"/>
                </a:solidFill>
                <a:latin typeface="Liberation Serif"/>
                <a:ea typeface="Liberation Serif"/>
                <a:cs typeface="Liberation Serif"/>
              </a:defRPr>
            </a:pPr>
            <a:r>
              <a:rPr sz="3300">
                <a:solidFill>
                  <a:srgbClr val="18181B"/>
                </a:solidFill>
                <a:latin typeface="Liberation Serif"/>
                <a:ea typeface="Liberation Serif"/>
                <a:cs typeface="Liberation Serif"/>
              </a:rPr>
              <a:t>Collaborative slides</a:t>
            </a:r>
          </a:p>
        </p:txBody>
      </p:sp>
      <p:sp>
        <p:nvSpPr>
          <p:cNvPr id="8" name="Availability varies by plan and region">
            <a:extLst xmlns:a="http://schemas.openxmlformats.org/drawingml/2006/main">
              <a:ext uri="{FF2B5EF4-FFF2-40B4-BE49-F238E27FC236}">
                <a16:creationId xmlns:a16="http://schemas.microsoft.com/office/drawing/2014/main" id="{73EEA7D0-C62D-451B-8BEF-86307AACC455}"/>
              </a:ext>
            </a:extLst>
          </p:cNvPr>
          <p:cNvSpPr>
            <a:spLocks xmlns:a="http://schemas.openxmlformats.org/drawingml/2006/main" noGrp="1"/>
          </p:cNvSpPr>
          <p:nvPr/>
        </p:nvSpPr>
        <p:spPr>
          <a:xfrm xmlns:a="http://schemas.openxmlformats.org/drawingml/2006/main">
            <a:off x="733425" y="58197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52525B"/>
                </a:solidFill>
                <a:latin typeface="Liberation Sans"/>
                <a:ea typeface="Liberation Sans"/>
                <a:cs typeface="Liberation Sans"/>
              </a:defRPr>
            </a:pPr>
            <a:r>
              <a:rPr sz="2025">
                <a:solidFill>
                  <a:srgbClr val="52525B"/>
                </a:solidFill>
                <a:latin typeface="Liberation Sans"/>
                <a:ea typeface="Liberation Sans"/>
                <a:cs typeface="Liberation Sans"/>
              </a:rPr>
              <a:t>Availability varies by plan and region</a:t>
            </a:r>
          </a:p>
        </p:txBody>
      </p:sp>
    </p:spTree>
    <p:extLst>
      <p:ext uri="{BB962C8B-B14F-4D97-AF65-F5344CB8AC3E}">
        <p14:creationId xmlns:p14="http://schemas.microsoft.com/office/powerpoint/2010/main" val="686108990"/>
      </p:ext>
    </p:extLst>
  </p:cSld>
</p:sld>
</file>

<file path=ppt/slides/slide8.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9" name="Assistants gain new voices and surfaces">
            <a:extLst xmlns:a="http://schemas.openxmlformats.org/drawingml/2006/main">
              <a:ext uri="{FF2B5EF4-FFF2-40B4-BE49-F238E27FC236}">
                <a16:creationId xmlns:a16="http://schemas.microsoft.com/office/drawing/2014/main" id="{EB9E1C0D-95FD-4B46-994F-7A2A475ADA75}"/>
              </a:ext>
            </a:extLst>
          </p:cNvPr>
          <p:cNvSpPr>
            <a:spLocks xmlns:a="http://schemas.openxmlformats.org/drawingml/2006/main" noGrp="1"/>
          </p:cNvSpPr>
          <p:nvPr/>
        </p:nvSpPr>
        <p:spPr>
          <a:xfrm xmlns:a="http://schemas.openxmlformats.org/drawingml/2006/main">
            <a:off x="666750" y="485775"/>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a:solidFill>
                  <a:srgbClr val="FFFFFF"/>
                </a:solidFill>
                <a:latin typeface="Liberation Serif"/>
                <a:ea typeface="Liberation Serif"/>
                <a:cs typeface="Liberation Serif"/>
              </a:defRPr>
            </a:pPr>
            <a:r>
              <a:rPr sz="4650">
                <a:solidFill>
                  <a:srgbClr val="FFFFFF"/>
                </a:solidFill>
                <a:latin typeface="Liberation Serif"/>
                <a:ea typeface="Liberation Serif"/>
                <a:cs typeface="Liberation Serif"/>
              </a:rPr>
              <a:t>Assistants gain new voices and surfaces</a:t>
            </a:r>
          </a:p>
        </p:txBody>
      </p:sp>
      <p:sp>
        <p:nvSpPr>
          <p:cNvPr id="2" name="LongmontAI">
            <a:extLst xmlns:a="http://schemas.openxmlformats.org/drawingml/2006/main">
              <a:ext uri="{FF2B5EF4-FFF2-40B4-BE49-F238E27FC236}">
                <a16:creationId xmlns:a16="http://schemas.microsoft.com/office/drawing/2014/main" id="{CBDE0D27-0D74-48A7-9D3F-E01F3CBBD077}"/>
              </a:ext>
            </a:extLst>
          </p:cNvPr>
          <p:cNvSpPr>
            <a:spLocks xmlns:a="http://schemas.openxmlformats.org/drawingml/2006/main" noGrp="1"/>
          </p:cNvSpPr>
          <p:nvPr/>
        </p:nvSpPr>
        <p:spPr>
          <a:xfrm xmlns:a="http://schemas.openxmlformats.org/drawingml/2006/main">
            <a:off x="685800" y="63722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LongmontAI</a:t>
            </a:r>
          </a:p>
        </p:txBody>
      </p:sp>
      <p:sp>
        <p:nvSpPr>
          <p:cNvPr id="3" name="08">
            <a:extLst xmlns:a="http://schemas.openxmlformats.org/drawingml/2006/main">
              <a:ext uri="{FF2B5EF4-FFF2-40B4-BE49-F238E27FC236}">
                <a16:creationId xmlns:a16="http://schemas.microsoft.com/office/drawing/2014/main" id="{1B0B9F25-146B-45A1-99CB-3446A2188264}"/>
              </a:ext>
            </a:extLst>
          </p:cNvPr>
          <p:cNvSpPr>
            <a:spLocks xmlns:a="http://schemas.openxmlformats.org/drawingml/2006/main" noGrp="1"/>
          </p:cNvSpPr>
          <p:nvPr/>
        </p:nvSpPr>
        <p:spPr>
          <a:xfrm xmlns:a="http://schemas.openxmlformats.org/drawingml/2006/main">
            <a:off x="10906125" y="6372225"/>
            <a:ext cx="600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08</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91c89b8cbb24eab"/>
          <a:srcRect xmlns:a="http://schemas.openxmlformats.org/drawingml/2006/main" l="16" t="0" r="16" b="0"/>
          <a:stretch xmlns:a="http://schemas.openxmlformats.org/drawingml/2006/main">
            <a:fillRect l="0" t="0" r="0" b="0"/>
          </a:stretch>
        </p:blipFill>
        <p:spPr>
          <a:xfrm xmlns:a="http://schemas.openxmlformats.org/drawingml/2006/main">
            <a:off x="685800" y="2047875"/>
            <a:ext cx="6686550" cy="3762375"/>
          </a:xfrm>
          <a:prstGeom xmlns:a="http://schemas.openxmlformats.org/drawingml/2006/main" prst="rect">
            <a:avLst/>
          </a:prstGeom>
        </p:spPr>
      </p:pic>
      <p:sp>
        <p:nvSpPr>
          <p:cNvPr id="5" name="Meta Connect">
            <a:extLst xmlns:a="http://schemas.openxmlformats.org/drawingml/2006/main">
              <a:ext uri="{FF2B5EF4-FFF2-40B4-BE49-F238E27FC236}">
                <a16:creationId xmlns:a16="http://schemas.microsoft.com/office/drawing/2014/main" id="{6A6AFF9F-B0E9-4142-95A1-68D638254F3A}"/>
              </a:ext>
            </a:extLst>
          </p:cNvPr>
          <p:cNvSpPr>
            <a:spLocks xmlns:a="http://schemas.openxmlformats.org/drawingml/2006/main" noGrp="1"/>
          </p:cNvSpPr>
          <p:nvPr/>
        </p:nvSpPr>
        <p:spPr>
          <a:xfrm xmlns:a="http://schemas.openxmlformats.org/drawingml/2006/main">
            <a:off x="7829550" y="2038350"/>
            <a:ext cx="371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a:solidFill>
                  <a:srgbClr val="BFDBFE"/>
                </a:solidFill>
                <a:latin typeface="Liberation Serif"/>
                <a:ea typeface="Liberation Serif"/>
                <a:cs typeface="Liberation Serif"/>
              </a:defRPr>
            </a:pPr>
            <a:r>
              <a:rPr sz="3450">
                <a:solidFill>
                  <a:srgbClr val="BFDBFE"/>
                </a:solidFill>
                <a:latin typeface="Liberation Serif"/>
                <a:ea typeface="Liberation Serif"/>
                <a:cs typeface="Liberation Serif"/>
              </a:rPr>
              <a:t>Meta Connect</a:t>
            </a:r>
          </a:p>
        </p:txBody>
      </p:sp>
      <p:sp>
        <p:nvSpPr>
          <p:cNvPr id="6" name="Glasses and&#10;wearable previews">
            <a:extLst xmlns:a="http://schemas.openxmlformats.org/drawingml/2006/main">
              <a:ext uri="{FF2B5EF4-FFF2-40B4-BE49-F238E27FC236}">
                <a16:creationId xmlns:a16="http://schemas.microsoft.com/office/drawing/2014/main" id="{9C750A2A-D064-4967-B4EF-FD1BC3823CEA}"/>
              </a:ext>
            </a:extLst>
          </p:cNvPr>
          <p:cNvSpPr>
            <a:spLocks xmlns:a="http://schemas.openxmlformats.org/drawingml/2006/main" noGrp="1"/>
          </p:cNvSpPr>
          <p:nvPr/>
        </p:nvSpPr>
        <p:spPr>
          <a:xfrm xmlns:a="http://schemas.openxmlformats.org/drawingml/2006/main">
            <a:off x="7839075" y="2838450"/>
            <a:ext cx="37052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a:solidFill>
                  <a:srgbClr val="FFFFFF"/>
                </a:solidFill>
                <a:latin typeface="Liberation Sans"/>
                <a:ea typeface="Liberation Sans"/>
                <a:cs typeface="Liberation Sans"/>
              </a:defRPr>
            </a:pPr>
            <a:r>
              <a:rPr sz="2475">
                <a:solidFill>
                  <a:srgbClr val="FFFFFF"/>
                </a:solidFill>
                <a:latin typeface="Liberation Sans"/>
                <a:ea typeface="Liberation Sans"/>
                <a:cs typeface="Liberation Sans"/>
              </a:rPr>
              <a:t>Glasses and</a:t>
            </a:r>
          </a:p>
          <a:p xmlns:a="http://schemas.openxmlformats.org/drawingml/2006/main">
            <a:pPr>
              <a:defRPr sz="2475">
                <a:solidFill>
                  <a:srgbClr val="FFFFFF"/>
                </a:solidFill>
                <a:latin typeface="Liberation Sans"/>
                <a:ea typeface="Liberation Sans"/>
                <a:cs typeface="Liberation Sans"/>
              </a:defRPr>
            </a:pPr>
            <a:r>
              <a:rPr sz="2475">
                <a:solidFill>
                  <a:srgbClr val="FFFFFF"/>
                </a:solidFill>
                <a:latin typeface="Liberation Sans"/>
                <a:ea typeface="Liberation Sans"/>
                <a:cs typeface="Liberation Sans"/>
              </a:rPr>
              <a:t>wearable previews</a:t>
            </a:r>
          </a:p>
        </p:txBody>
      </p:sp>
      <p:sp>
        <p:nvSpPr>
          <p:cNvPr id="7" name="Gemini 3.8 TTS">
            <a:extLst xmlns:a="http://schemas.openxmlformats.org/drawingml/2006/main">
              <a:ext uri="{FF2B5EF4-FFF2-40B4-BE49-F238E27FC236}">
                <a16:creationId xmlns:a16="http://schemas.microsoft.com/office/drawing/2014/main" id="{CD96BD44-CBCE-4DF6-8A82-5D37E86B8C63}"/>
              </a:ext>
            </a:extLst>
          </p:cNvPr>
          <p:cNvSpPr>
            <a:spLocks xmlns:a="http://schemas.openxmlformats.org/drawingml/2006/main" noGrp="1"/>
          </p:cNvSpPr>
          <p:nvPr/>
        </p:nvSpPr>
        <p:spPr>
          <a:xfrm xmlns:a="http://schemas.openxmlformats.org/drawingml/2006/main">
            <a:off x="7839075" y="4229100"/>
            <a:ext cx="3676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925">
                <a:solidFill>
                  <a:srgbClr val="FFFFFF"/>
                </a:solidFill>
                <a:latin typeface="Liberation Serif"/>
                <a:ea typeface="Liberation Serif"/>
                <a:cs typeface="Liberation Serif"/>
              </a:defRPr>
            </a:pPr>
            <a:r>
              <a:rPr sz="2925">
                <a:solidFill>
                  <a:srgbClr val="FFFFFF"/>
                </a:solidFill>
                <a:latin typeface="Liberation Serif"/>
                <a:ea typeface="Liberation Serif"/>
                <a:cs typeface="Liberation Serif"/>
              </a:rPr>
              <a:t>Gemini 3.8 TTS</a:t>
            </a:r>
          </a:p>
        </p:txBody>
      </p:sp>
      <p:sp>
        <p:nvSpPr>
          <p:cNvPr id="8" name="Eleven v4&#10;and Turbo">
            <a:extLst xmlns:a="http://schemas.openxmlformats.org/drawingml/2006/main">
              <a:ext uri="{FF2B5EF4-FFF2-40B4-BE49-F238E27FC236}">
                <a16:creationId xmlns:a16="http://schemas.microsoft.com/office/drawing/2014/main" id="{B01CE337-9E8E-45BE-8096-EB831B17FE67}"/>
              </a:ext>
            </a:extLst>
          </p:cNvPr>
          <p:cNvSpPr>
            <a:spLocks xmlns:a="http://schemas.openxmlformats.org/drawingml/2006/main" noGrp="1"/>
          </p:cNvSpPr>
          <p:nvPr/>
        </p:nvSpPr>
        <p:spPr>
          <a:xfrm xmlns:a="http://schemas.openxmlformats.org/drawingml/2006/main">
            <a:off x="7839075" y="4981575"/>
            <a:ext cx="36766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925">
                <a:solidFill>
                  <a:srgbClr val="FFFFFF"/>
                </a:solidFill>
                <a:latin typeface="Liberation Serif"/>
                <a:ea typeface="Liberation Serif"/>
                <a:cs typeface="Liberation Serif"/>
              </a:defRPr>
            </a:pPr>
            <a:r>
              <a:rPr sz="2925">
                <a:solidFill>
                  <a:srgbClr val="FFFFFF"/>
                </a:solidFill>
                <a:latin typeface="Liberation Serif"/>
                <a:ea typeface="Liberation Serif"/>
                <a:cs typeface="Liberation Serif"/>
              </a:rPr>
              <a:t>Eleven v4</a:t>
            </a:r>
          </a:p>
          <a:p xmlns:a="http://schemas.openxmlformats.org/drawingml/2006/main">
            <a:pPr>
              <a:defRPr sz="2925">
                <a:solidFill>
                  <a:srgbClr val="FFFFFF"/>
                </a:solidFill>
                <a:latin typeface="Liberation Serif"/>
                <a:ea typeface="Liberation Serif"/>
                <a:cs typeface="Liberation Serif"/>
              </a:defRPr>
            </a:pPr>
            <a:r>
              <a:rPr sz="2925">
                <a:solidFill>
                  <a:srgbClr val="FFFFFF"/>
                </a:solidFill>
                <a:latin typeface="Liberation Serif"/>
                <a:ea typeface="Liberation Serif"/>
                <a:cs typeface="Liberation Serif"/>
              </a:rPr>
              <a:t>and Turbo</a:t>
            </a:r>
          </a:p>
        </p:txBody>
      </p:sp>
    </p:spTree>
    <p:extLst>
      <p:ext uri="{BB962C8B-B14F-4D97-AF65-F5344CB8AC3E}">
        <p14:creationId xmlns:p14="http://schemas.microsoft.com/office/powerpoint/2010/main" val="761827601"/>
      </p:ext>
    </p:extLst>
  </p:cSld>
</p:sld>
</file>

<file path=ppt/slides/slide9.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9" name="Multimodal choices broaden">
            <a:extLst xmlns:a="http://schemas.openxmlformats.org/drawingml/2006/main">
              <a:ext uri="{FF2B5EF4-FFF2-40B4-BE49-F238E27FC236}">
                <a16:creationId xmlns:a16="http://schemas.microsoft.com/office/drawing/2014/main" id="{4A5CBA42-60CE-4731-B55E-E9B14740E528}"/>
              </a:ext>
            </a:extLst>
          </p:cNvPr>
          <p:cNvSpPr>
            <a:spLocks xmlns:a="http://schemas.openxmlformats.org/drawingml/2006/main" noGrp="1"/>
          </p:cNvSpPr>
          <p:nvPr/>
        </p:nvSpPr>
        <p:spPr>
          <a:xfrm xmlns:a="http://schemas.openxmlformats.org/drawingml/2006/main">
            <a:off x="666750" y="485775"/>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a:solidFill>
                  <a:srgbClr val="18181B"/>
                </a:solidFill>
                <a:latin typeface="Liberation Serif"/>
                <a:ea typeface="Liberation Serif"/>
                <a:cs typeface="Liberation Serif"/>
              </a:defRPr>
            </a:pPr>
            <a:r>
              <a:rPr sz="4650">
                <a:solidFill>
                  <a:srgbClr val="18181B"/>
                </a:solidFill>
                <a:latin typeface="Liberation Serif"/>
                <a:ea typeface="Liberation Serif"/>
                <a:cs typeface="Liberation Serif"/>
              </a:rPr>
              <a:t>Multimodal choices broaden</a:t>
            </a:r>
          </a:p>
        </p:txBody>
      </p:sp>
      <p:sp>
        <p:nvSpPr>
          <p:cNvPr id="2" name="LongmontAI">
            <a:extLst xmlns:a="http://schemas.openxmlformats.org/drawingml/2006/main">
              <a:ext uri="{FF2B5EF4-FFF2-40B4-BE49-F238E27FC236}">
                <a16:creationId xmlns:a16="http://schemas.microsoft.com/office/drawing/2014/main" id="{21385F11-2DA9-46A5-B3C1-271163B7B18A}"/>
              </a:ext>
            </a:extLst>
          </p:cNvPr>
          <p:cNvSpPr>
            <a:spLocks xmlns:a="http://schemas.openxmlformats.org/drawingml/2006/main" noGrp="1"/>
          </p:cNvSpPr>
          <p:nvPr/>
        </p:nvSpPr>
        <p:spPr>
          <a:xfrm xmlns:a="http://schemas.openxmlformats.org/drawingml/2006/main">
            <a:off x="685800" y="63722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a:solidFill>
                  <a:srgbClr val="71717A"/>
                </a:solidFill>
                <a:latin typeface="Liberation Mono"/>
                <a:ea typeface="Liberation Mono"/>
                <a:cs typeface="Liberation Mono"/>
              </a:defRPr>
            </a:pPr>
            <a:r>
              <a:rPr sz="1425">
                <a:solidFill>
                  <a:srgbClr val="71717A"/>
                </a:solidFill>
                <a:latin typeface="Liberation Mono"/>
                <a:ea typeface="Liberation Mono"/>
                <a:cs typeface="Liberation Mono"/>
              </a:rPr>
              <a:t>LongmontAI</a:t>
            </a:r>
          </a:p>
        </p:txBody>
      </p:sp>
      <p:sp>
        <p:nvSpPr>
          <p:cNvPr id="3" name="09">
            <a:extLst xmlns:a="http://schemas.openxmlformats.org/drawingml/2006/main">
              <a:ext uri="{FF2B5EF4-FFF2-40B4-BE49-F238E27FC236}">
                <a16:creationId xmlns:a16="http://schemas.microsoft.com/office/drawing/2014/main" id="{623E27AC-883E-40FC-A33C-8D685B81262F}"/>
              </a:ext>
            </a:extLst>
          </p:cNvPr>
          <p:cNvSpPr>
            <a:spLocks xmlns:a="http://schemas.openxmlformats.org/drawingml/2006/main" noGrp="1"/>
          </p:cNvSpPr>
          <p:nvPr/>
        </p:nvSpPr>
        <p:spPr>
          <a:xfrm xmlns:a="http://schemas.openxmlformats.org/drawingml/2006/main">
            <a:off x="10906125" y="6372225"/>
            <a:ext cx="600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a:solidFill>
                  <a:srgbClr val="71717A"/>
                </a:solidFill>
                <a:latin typeface="Liberation Mono"/>
                <a:ea typeface="Liberation Mono"/>
                <a:cs typeface="Liberation Mono"/>
              </a:defRPr>
            </a:pPr>
            <a:r>
              <a:rPr sz="1425">
                <a:solidFill>
                  <a:srgbClr val="71717A"/>
                </a:solidFill>
                <a:latin typeface="Liberation Mono"/>
                <a:ea typeface="Liberation Mono"/>
                <a:cs typeface="Liberation Mono"/>
              </a:rPr>
              <a:t>09</a:t>
            </a:r>
          </a:p>
        </p:txBody>
      </p:sp>
      <p:sp>
        <p:nvSpPr>
          <p:cNvPr id="4" name="MiMo-V2.6">
            <a:extLst xmlns:a="http://schemas.openxmlformats.org/drawingml/2006/main">
              <a:ext uri="{FF2B5EF4-FFF2-40B4-BE49-F238E27FC236}">
                <a16:creationId xmlns:a16="http://schemas.microsoft.com/office/drawing/2014/main" id="{CA24FB10-7908-408F-A0A3-37C37C83DBD3}"/>
              </a:ext>
            </a:extLst>
          </p:cNvPr>
          <p:cNvSpPr>
            <a:spLocks xmlns:a="http://schemas.openxmlformats.org/drawingml/2006/main" noGrp="1"/>
          </p:cNvSpPr>
          <p:nvPr/>
        </p:nvSpPr>
        <p:spPr>
          <a:xfrm xmlns:a="http://schemas.openxmlformats.org/drawingml/2006/main">
            <a:off x="704850" y="2047875"/>
            <a:ext cx="5048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825">
                <a:solidFill>
                  <a:srgbClr val="18181B"/>
                </a:solidFill>
                <a:latin typeface="Liberation Serif"/>
                <a:ea typeface="Liberation Serif"/>
                <a:cs typeface="Liberation Serif"/>
              </a:defRPr>
            </a:pPr>
            <a:r>
              <a:rPr sz="3825">
                <a:solidFill>
                  <a:srgbClr val="18181B"/>
                </a:solidFill>
                <a:latin typeface="Liberation Serif"/>
                <a:ea typeface="Liberation Serif"/>
                <a:cs typeface="Liberation Serif"/>
              </a:rPr>
              <a:t>MiMo-V2.6</a:t>
            </a:r>
          </a:p>
        </p:txBody>
      </p:sp>
      <p:sp>
        <p:nvSpPr>
          <p:cNvPr id="5" name="Open weights&#10;MIT Pro-RL checkpoint">
            <a:extLst xmlns:a="http://schemas.openxmlformats.org/drawingml/2006/main">
              <a:ext uri="{FF2B5EF4-FFF2-40B4-BE49-F238E27FC236}">
                <a16:creationId xmlns:a16="http://schemas.microsoft.com/office/drawing/2014/main" id="{D8283B56-D966-44B2-A851-FDBAFA9F0D88}"/>
              </a:ext>
            </a:extLst>
          </p:cNvPr>
          <p:cNvSpPr>
            <a:spLocks xmlns:a="http://schemas.openxmlformats.org/drawingml/2006/main" noGrp="1"/>
          </p:cNvSpPr>
          <p:nvPr/>
        </p:nvSpPr>
        <p:spPr>
          <a:xfrm xmlns:a="http://schemas.openxmlformats.org/drawingml/2006/main">
            <a:off x="723900" y="2933700"/>
            <a:ext cx="5048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a:solidFill>
                  <a:srgbClr val="52525B"/>
                </a:solidFill>
                <a:latin typeface="Liberation Sans"/>
                <a:ea typeface="Liberation Sans"/>
                <a:cs typeface="Liberation Sans"/>
              </a:defRPr>
            </a:pPr>
            <a:r>
              <a:rPr sz="2775">
                <a:solidFill>
                  <a:srgbClr val="52525B"/>
                </a:solidFill>
                <a:latin typeface="Liberation Sans"/>
                <a:ea typeface="Liberation Sans"/>
                <a:cs typeface="Liberation Sans"/>
              </a:rPr>
              <a:t>Open weights</a:t>
            </a:r>
          </a:p>
          <a:p xmlns:a="http://schemas.openxmlformats.org/drawingml/2006/main">
            <a:pPr>
              <a:defRPr sz="2775">
                <a:solidFill>
                  <a:srgbClr val="52525B"/>
                </a:solidFill>
                <a:latin typeface="Liberation Sans"/>
                <a:ea typeface="Liberation Sans"/>
                <a:cs typeface="Liberation Sans"/>
              </a:defRPr>
            </a:pPr>
            <a:r>
              <a:rPr sz="2775">
                <a:solidFill>
                  <a:srgbClr val="52525B"/>
                </a:solidFill>
                <a:latin typeface="Liberation Sans"/>
                <a:ea typeface="Liberation Sans"/>
                <a:cs typeface="Liberation Sans"/>
              </a:rPr>
              <a:t>MIT Pro-RL checkpoint</a:t>
            </a:r>
          </a:p>
        </p:txBody>
      </p:sp>
      <p:sp>
        <p:nvSpPr>
          <p:cNvPr id="6" name="Qwen3.8-Omni-Flash">
            <a:extLst xmlns:a="http://schemas.openxmlformats.org/drawingml/2006/main">
              <a:ext uri="{FF2B5EF4-FFF2-40B4-BE49-F238E27FC236}">
                <a16:creationId xmlns:a16="http://schemas.microsoft.com/office/drawing/2014/main" id="{6D788D58-171E-4BCA-95EF-58BC07A60BA4}"/>
              </a:ext>
            </a:extLst>
          </p:cNvPr>
          <p:cNvSpPr>
            <a:spLocks xmlns:a="http://schemas.openxmlformats.org/drawingml/2006/main" noGrp="1"/>
          </p:cNvSpPr>
          <p:nvPr/>
        </p:nvSpPr>
        <p:spPr>
          <a:xfrm xmlns:a="http://schemas.openxmlformats.org/drawingml/2006/main">
            <a:off x="714375" y="4514850"/>
            <a:ext cx="609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a:solidFill>
                  <a:srgbClr val="18181B"/>
                </a:solidFill>
                <a:latin typeface="Liberation Serif"/>
                <a:ea typeface="Liberation Serif"/>
                <a:cs typeface="Liberation Serif"/>
              </a:defRPr>
            </a:pPr>
            <a:r>
              <a:rPr sz="3300">
                <a:solidFill>
                  <a:srgbClr val="18181B"/>
                </a:solidFill>
                <a:latin typeface="Liberation Serif"/>
                <a:ea typeface="Liberation Serif"/>
                <a:cs typeface="Liberation Serif"/>
              </a:rPr>
              <a:t>Qwen3.8-Omni-Flash</a:t>
            </a:r>
          </a:p>
        </p:txBody>
      </p:sp>
      <p:sp>
        <p:nvSpPr>
          <p:cNvPr id="7" name="Text, images, audio and video">
            <a:extLst xmlns:a="http://schemas.openxmlformats.org/drawingml/2006/main">
              <a:ext uri="{FF2B5EF4-FFF2-40B4-BE49-F238E27FC236}">
                <a16:creationId xmlns:a16="http://schemas.microsoft.com/office/drawing/2014/main" id="{BF0AC895-5537-42D1-B01B-B12AE23766DE}"/>
              </a:ext>
            </a:extLst>
          </p:cNvPr>
          <p:cNvSpPr>
            <a:spLocks xmlns:a="http://schemas.openxmlformats.org/drawingml/2006/main" noGrp="1"/>
          </p:cNvSpPr>
          <p:nvPr/>
        </p:nvSpPr>
        <p:spPr>
          <a:xfrm xmlns:a="http://schemas.openxmlformats.org/drawingml/2006/main">
            <a:off x="723900" y="5286375"/>
            <a:ext cx="6115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a:solidFill>
                  <a:srgbClr val="52525B"/>
                </a:solidFill>
                <a:latin typeface="Liberation Sans"/>
                <a:ea typeface="Liberation Sans"/>
                <a:cs typeface="Liberation Sans"/>
              </a:defRPr>
            </a:pPr>
            <a:r>
              <a:rPr sz="2475">
                <a:solidFill>
                  <a:srgbClr val="52525B"/>
                </a:solidFill>
                <a:latin typeface="Liberation Sans"/>
                <a:ea typeface="Liberation Sans"/>
                <a:cs typeface="Liberation Sans"/>
              </a:rPr>
              <a:t>Text, images, audio and video</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1694344ef324461"/>
          <a:srcRect xmlns:a="http://schemas.openxmlformats.org/drawingml/2006/main" l="89" t="0" r="89" b="0"/>
          <a:stretch xmlns:a="http://schemas.openxmlformats.org/drawingml/2006/main">
            <a:fillRect l="0" t="0" r="0" b="0"/>
          </a:stretch>
        </p:blipFill>
        <p:spPr>
          <a:xfrm xmlns:a="http://schemas.openxmlformats.org/drawingml/2006/main">
            <a:off x="7029450" y="2600325"/>
            <a:ext cx="4495800" cy="2543175"/>
          </a:xfrm>
          <a:prstGeom xmlns:a="http://schemas.openxmlformats.org/drawingml/2006/main" prst="rect">
            <a:avLst/>
          </a:prstGeom>
        </p:spPr>
      </p:pic>
    </p:spTree>
    <p:extLst>
      <p:ext uri="{BB962C8B-B14F-4D97-AF65-F5344CB8AC3E}">
        <p14:creationId xmlns:p14="http://schemas.microsoft.com/office/powerpoint/2010/main" val="1947775714"/>
      </p:ext>
    </p:extLst>
  </p:cSld>
</p:sld>
</file>

<file path=ppt/slides/slide10.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8" name="Suno Studio improves MIDI workflows">
            <a:extLst xmlns:a="http://schemas.openxmlformats.org/drawingml/2006/main">
              <a:ext uri="{FF2B5EF4-FFF2-40B4-BE49-F238E27FC236}">
                <a16:creationId xmlns:a16="http://schemas.microsoft.com/office/drawing/2014/main" id="{13B22109-02F8-4559-9F10-D2B3C994B8AB}"/>
              </a:ext>
            </a:extLst>
          </p:cNvPr>
          <p:cNvSpPr>
            <a:spLocks xmlns:a="http://schemas.openxmlformats.org/drawingml/2006/main" noGrp="1"/>
          </p:cNvSpPr>
          <p:nvPr/>
        </p:nvSpPr>
        <p:spPr>
          <a:xfrm xmlns:a="http://schemas.openxmlformats.org/drawingml/2006/main">
            <a:off x="666750" y="485775"/>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a:solidFill>
                  <a:srgbClr val="FFFFFF"/>
                </a:solidFill>
                <a:latin typeface="Liberation Serif"/>
                <a:ea typeface="Liberation Serif"/>
                <a:cs typeface="Liberation Serif"/>
              </a:defRPr>
            </a:pPr>
            <a:r>
              <a:rPr sz="4650">
                <a:solidFill>
                  <a:srgbClr val="FFFFFF"/>
                </a:solidFill>
                <a:latin typeface="Liberation Serif"/>
                <a:ea typeface="Liberation Serif"/>
                <a:cs typeface="Liberation Serif"/>
              </a:rPr>
              <a:t>Suno Studio improves MIDI workflows</a:t>
            </a:r>
          </a:p>
        </p:txBody>
      </p:sp>
      <p:sp>
        <p:nvSpPr>
          <p:cNvPr id="2" name="LongmontAI">
            <a:extLst xmlns:a="http://schemas.openxmlformats.org/drawingml/2006/main">
              <a:ext uri="{FF2B5EF4-FFF2-40B4-BE49-F238E27FC236}">
                <a16:creationId xmlns:a16="http://schemas.microsoft.com/office/drawing/2014/main" id="{18074CD8-0139-4D45-BFBD-239350423172}"/>
              </a:ext>
            </a:extLst>
          </p:cNvPr>
          <p:cNvSpPr>
            <a:spLocks xmlns:a="http://schemas.openxmlformats.org/drawingml/2006/main" noGrp="1"/>
          </p:cNvSpPr>
          <p:nvPr/>
        </p:nvSpPr>
        <p:spPr>
          <a:xfrm xmlns:a="http://schemas.openxmlformats.org/drawingml/2006/main">
            <a:off x="685800" y="63722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LongmontAI</a:t>
            </a:r>
          </a:p>
        </p:txBody>
      </p:sp>
      <p:sp>
        <p:nvSpPr>
          <p:cNvPr id="3" name="10">
            <a:extLst xmlns:a="http://schemas.openxmlformats.org/drawingml/2006/main">
              <a:ext uri="{FF2B5EF4-FFF2-40B4-BE49-F238E27FC236}">
                <a16:creationId xmlns:a16="http://schemas.microsoft.com/office/drawing/2014/main" id="{B1408EA4-9CF4-491D-A98C-9F4E531F2B7D}"/>
              </a:ext>
            </a:extLst>
          </p:cNvPr>
          <p:cNvSpPr>
            <a:spLocks xmlns:a="http://schemas.openxmlformats.org/drawingml/2006/main" noGrp="1"/>
          </p:cNvSpPr>
          <p:nvPr/>
        </p:nvSpPr>
        <p:spPr>
          <a:xfrm xmlns:a="http://schemas.openxmlformats.org/drawingml/2006/main">
            <a:off x="10906125" y="6372225"/>
            <a:ext cx="600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10</a:t>
            </a:r>
          </a:p>
        </p:txBody>
      </p:sp>
      <p:sp>
        <p:nvSpPr>
          <p:cNvPr id="4" name="MIDI">
            <a:extLst xmlns:a="http://schemas.openxmlformats.org/drawingml/2006/main">
              <a:ext uri="{FF2B5EF4-FFF2-40B4-BE49-F238E27FC236}">
                <a16:creationId xmlns:a16="http://schemas.microsoft.com/office/drawing/2014/main" id="{F2B14E15-04FF-426D-847E-F5B21858E765}"/>
              </a:ext>
            </a:extLst>
          </p:cNvPr>
          <p:cNvSpPr>
            <a:spLocks xmlns:a="http://schemas.openxmlformats.org/drawingml/2006/main" noGrp="1"/>
          </p:cNvSpPr>
          <p:nvPr/>
        </p:nvSpPr>
        <p:spPr>
          <a:xfrm xmlns:a="http://schemas.openxmlformats.org/drawingml/2006/main">
            <a:off x="695325" y="2076450"/>
            <a:ext cx="76200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400">
                <a:solidFill>
                  <a:srgbClr val="BFDBFE"/>
                </a:solidFill>
                <a:latin typeface="Liberation Serif"/>
                <a:ea typeface="Liberation Serif"/>
                <a:cs typeface="Liberation Serif"/>
              </a:defRPr>
            </a:pPr>
            <a:r>
              <a:rPr sz="11400">
                <a:solidFill>
                  <a:srgbClr val="BFDBFE"/>
                </a:solidFill>
                <a:latin typeface="Liberation Serif"/>
                <a:ea typeface="Liberation Serif"/>
                <a:cs typeface="Liberation Serif"/>
              </a:rPr>
              <a:t>MIDI</a:t>
            </a:r>
          </a:p>
        </p:txBody>
      </p:sp>
      <p:sp>
        <p:nvSpPr>
          <p:cNvPr id="5" name="to audio">
            <a:extLst xmlns:a="http://schemas.openxmlformats.org/drawingml/2006/main">
              <a:ext uri="{FF2B5EF4-FFF2-40B4-BE49-F238E27FC236}">
                <a16:creationId xmlns:a16="http://schemas.microsoft.com/office/drawing/2014/main" id="{DDD62DD0-8926-4149-A186-D5840B6E0BE0}"/>
              </a:ext>
            </a:extLst>
          </p:cNvPr>
          <p:cNvSpPr>
            <a:spLocks xmlns:a="http://schemas.openxmlformats.org/drawingml/2006/main" noGrp="1"/>
          </p:cNvSpPr>
          <p:nvPr/>
        </p:nvSpPr>
        <p:spPr>
          <a:xfrm xmlns:a="http://schemas.openxmlformats.org/drawingml/2006/main">
            <a:off x="733425" y="3857625"/>
            <a:ext cx="666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800">
                <a:solidFill>
                  <a:srgbClr val="FFFFFF"/>
                </a:solidFill>
                <a:latin typeface="Liberation Serif"/>
                <a:ea typeface="Liberation Serif"/>
                <a:cs typeface="Liberation Serif"/>
              </a:defRPr>
            </a:pPr>
            <a:r>
              <a:rPr sz="4800">
                <a:solidFill>
                  <a:srgbClr val="FFFFFF"/>
                </a:solidFill>
                <a:latin typeface="Liberation Serif"/>
                <a:ea typeface="Liberation Serif"/>
                <a:cs typeface="Liberation Serif"/>
              </a:rPr>
              <a:t>to audio</a:t>
            </a:r>
          </a:p>
        </p:txBody>
      </p:sp>
      <p:sp>
        <p:nvSpPr>
          <p:cNvPr id="6" name="MIDI generation&#10;in chat">
            <a:extLst xmlns:a="http://schemas.openxmlformats.org/drawingml/2006/main">
              <a:ext uri="{FF2B5EF4-FFF2-40B4-BE49-F238E27FC236}">
                <a16:creationId xmlns:a16="http://schemas.microsoft.com/office/drawing/2014/main" id="{28DE2337-30F8-49B3-845C-A9BAABA19F9E}"/>
              </a:ext>
            </a:extLst>
          </p:cNvPr>
          <p:cNvSpPr>
            <a:spLocks xmlns:a="http://schemas.openxmlformats.org/drawingml/2006/main" noGrp="1"/>
          </p:cNvSpPr>
          <p:nvPr/>
        </p:nvSpPr>
        <p:spPr>
          <a:xfrm xmlns:a="http://schemas.openxmlformats.org/drawingml/2006/main">
            <a:off x="7800975" y="2657475"/>
            <a:ext cx="37433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a:solidFill>
                  <a:srgbClr val="FFFFFF"/>
                </a:solidFill>
                <a:latin typeface="Liberation Serif"/>
                <a:ea typeface="Liberation Serif"/>
                <a:cs typeface="Liberation Serif"/>
              </a:defRPr>
            </a:pPr>
            <a:r>
              <a:rPr sz="3600">
                <a:solidFill>
                  <a:srgbClr val="FFFFFF"/>
                </a:solidFill>
                <a:latin typeface="Liberation Serif"/>
                <a:ea typeface="Liberation Serif"/>
                <a:cs typeface="Liberation Serif"/>
              </a:rPr>
              <a:t>MIDI generation</a:t>
            </a:r>
          </a:p>
          <a:p xmlns:a="http://schemas.openxmlformats.org/drawingml/2006/main">
            <a:pPr>
              <a:defRPr sz="3600">
                <a:solidFill>
                  <a:srgbClr val="FFFFFF"/>
                </a:solidFill>
                <a:latin typeface="Liberation Serif"/>
                <a:ea typeface="Liberation Serif"/>
                <a:cs typeface="Liberation Serif"/>
              </a:defRPr>
            </a:pPr>
            <a:r>
              <a:rPr sz="3600">
                <a:solidFill>
                  <a:srgbClr val="FFFFFF"/>
                </a:solidFill>
                <a:latin typeface="Liberation Serif"/>
                <a:ea typeface="Liberation Serif"/>
                <a:cs typeface="Liberation Serif"/>
              </a:rPr>
              <a:t>in chat</a:t>
            </a:r>
          </a:p>
        </p:txBody>
      </p:sp>
      <p:sp>
        <p:nvSpPr>
          <p:cNvPr id="7" name="Studio update&#10;September 17">
            <a:extLst xmlns:a="http://schemas.openxmlformats.org/drawingml/2006/main">
              <a:ext uri="{FF2B5EF4-FFF2-40B4-BE49-F238E27FC236}">
                <a16:creationId xmlns:a16="http://schemas.microsoft.com/office/drawing/2014/main" id="{DA0964A3-CFBF-4882-AEE4-0F2F42291EB9}"/>
              </a:ext>
            </a:extLst>
          </p:cNvPr>
          <p:cNvSpPr>
            <a:spLocks xmlns:a="http://schemas.openxmlformats.org/drawingml/2006/main" noGrp="1"/>
          </p:cNvSpPr>
          <p:nvPr/>
        </p:nvSpPr>
        <p:spPr>
          <a:xfrm xmlns:a="http://schemas.openxmlformats.org/drawingml/2006/main">
            <a:off x="7839075" y="4733925"/>
            <a:ext cx="3686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a:solidFill>
                  <a:srgbClr val="A1A1AA"/>
                </a:solidFill>
                <a:latin typeface="Liberation Sans"/>
                <a:ea typeface="Liberation Sans"/>
                <a:cs typeface="Liberation Sans"/>
              </a:defRPr>
            </a:pPr>
            <a:r>
              <a:rPr sz="2325">
                <a:solidFill>
                  <a:srgbClr val="A1A1AA"/>
                </a:solidFill>
                <a:latin typeface="Liberation Sans"/>
                <a:ea typeface="Liberation Sans"/>
                <a:cs typeface="Liberation Sans"/>
              </a:rPr>
              <a:t>Studio update</a:t>
            </a:r>
          </a:p>
          <a:p xmlns:a="http://schemas.openxmlformats.org/drawingml/2006/main">
            <a:pPr>
              <a:defRPr sz="2325">
                <a:solidFill>
                  <a:srgbClr val="A1A1AA"/>
                </a:solidFill>
                <a:latin typeface="Liberation Sans"/>
                <a:ea typeface="Liberation Sans"/>
                <a:cs typeface="Liberation Sans"/>
              </a:defRPr>
            </a:pPr>
            <a:r>
              <a:rPr sz="2325">
                <a:solidFill>
                  <a:srgbClr val="A1A1AA"/>
                </a:solidFill>
                <a:latin typeface="Liberation Sans"/>
                <a:ea typeface="Liberation Sans"/>
                <a:cs typeface="Liberation Sans"/>
              </a:rPr>
              <a:t>September 17</a:t>
            </a:r>
          </a:p>
        </p:txBody>
      </p:sp>
    </p:spTree>
    <p:extLst>
      <p:ext uri="{BB962C8B-B14F-4D97-AF65-F5344CB8AC3E}">
        <p14:creationId xmlns:p14="http://schemas.microsoft.com/office/powerpoint/2010/main" val="20137392"/>
      </p:ext>
    </p:extLst>
  </p:cSld>
</p:sld>
</file>

<file path=ppt/slides/slide11.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AMD agrees to buy World Labs">
            <a:extLst xmlns:a="http://schemas.openxmlformats.org/drawingml/2006/main">
              <a:ext uri="{FF2B5EF4-FFF2-40B4-BE49-F238E27FC236}">
                <a16:creationId xmlns:a16="http://schemas.microsoft.com/office/drawing/2014/main" id="{84C37A35-C324-4E54-9AF3-183C4A523EF0}"/>
              </a:ext>
            </a:extLst>
          </p:cNvPr>
          <p:cNvSpPr>
            <a:spLocks xmlns:a="http://schemas.openxmlformats.org/drawingml/2006/main" noGrp="1"/>
          </p:cNvSpPr>
          <p:nvPr/>
        </p:nvSpPr>
        <p:spPr>
          <a:xfrm xmlns:a="http://schemas.openxmlformats.org/drawingml/2006/main">
            <a:off x="666750" y="485775"/>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a:solidFill>
                  <a:srgbClr val="FFFFFF"/>
                </a:solidFill>
                <a:latin typeface="Liberation Serif"/>
                <a:ea typeface="Liberation Serif"/>
                <a:cs typeface="Liberation Serif"/>
              </a:defRPr>
            </a:pPr>
            <a:r>
              <a:rPr sz="4650">
                <a:solidFill>
                  <a:srgbClr val="FFFFFF"/>
                </a:solidFill>
                <a:latin typeface="Liberation Serif"/>
                <a:ea typeface="Liberation Serif"/>
                <a:cs typeface="Liberation Serif"/>
              </a:rPr>
              <a:t>AMD agrees to buy World Labs</a:t>
            </a:r>
          </a:p>
        </p:txBody>
      </p:sp>
      <p:sp>
        <p:nvSpPr>
          <p:cNvPr id="2" name="LongmontAI">
            <a:extLst xmlns:a="http://schemas.openxmlformats.org/drawingml/2006/main">
              <a:ext uri="{FF2B5EF4-FFF2-40B4-BE49-F238E27FC236}">
                <a16:creationId xmlns:a16="http://schemas.microsoft.com/office/drawing/2014/main" id="{39D09E1F-9EB6-43A6-90AA-FF256A9CEDF5}"/>
              </a:ext>
            </a:extLst>
          </p:cNvPr>
          <p:cNvSpPr>
            <a:spLocks xmlns:a="http://schemas.openxmlformats.org/drawingml/2006/main" noGrp="1"/>
          </p:cNvSpPr>
          <p:nvPr/>
        </p:nvSpPr>
        <p:spPr>
          <a:xfrm xmlns:a="http://schemas.openxmlformats.org/drawingml/2006/main">
            <a:off x="685800" y="63722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LongmontAI</a:t>
            </a:r>
          </a:p>
        </p:txBody>
      </p:sp>
      <p:sp>
        <p:nvSpPr>
          <p:cNvPr id="3" name="11">
            <a:extLst xmlns:a="http://schemas.openxmlformats.org/drawingml/2006/main">
              <a:ext uri="{FF2B5EF4-FFF2-40B4-BE49-F238E27FC236}">
                <a16:creationId xmlns:a16="http://schemas.microsoft.com/office/drawing/2014/main" id="{185536CB-AB8B-4A7F-A016-6A0C98D9A18B}"/>
              </a:ext>
            </a:extLst>
          </p:cNvPr>
          <p:cNvSpPr>
            <a:spLocks xmlns:a="http://schemas.openxmlformats.org/drawingml/2006/main" noGrp="1"/>
          </p:cNvSpPr>
          <p:nvPr/>
        </p:nvSpPr>
        <p:spPr>
          <a:xfrm xmlns:a="http://schemas.openxmlformats.org/drawingml/2006/main">
            <a:off x="10906125" y="6372225"/>
            <a:ext cx="600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11</a:t>
            </a:r>
          </a:p>
        </p:txBody>
      </p:sp>
      <p:sp>
        <p:nvSpPr>
          <p:cNvPr id="4" name="$8.2B">
            <a:extLst xmlns:a="http://schemas.openxmlformats.org/drawingml/2006/main">
              <a:ext uri="{FF2B5EF4-FFF2-40B4-BE49-F238E27FC236}">
                <a16:creationId xmlns:a16="http://schemas.microsoft.com/office/drawing/2014/main" id="{A04575B4-2263-4C4C-AE3F-C068DD57F0D3}"/>
              </a:ext>
            </a:extLst>
          </p:cNvPr>
          <p:cNvSpPr>
            <a:spLocks xmlns:a="http://schemas.openxmlformats.org/drawingml/2006/main" noGrp="1"/>
          </p:cNvSpPr>
          <p:nvPr/>
        </p:nvSpPr>
        <p:spPr>
          <a:xfrm xmlns:a="http://schemas.openxmlformats.org/drawingml/2006/main">
            <a:off x="685800" y="1857375"/>
            <a:ext cx="8477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0">
                <a:solidFill>
                  <a:srgbClr val="BFDBFE"/>
                </a:solidFill>
                <a:latin typeface="Liberation Serif"/>
                <a:ea typeface="Liberation Serif"/>
                <a:cs typeface="Liberation Serif"/>
              </a:defRPr>
            </a:pPr>
            <a:r>
              <a:rPr sz="12750">
                <a:solidFill>
                  <a:srgbClr val="BFDBFE"/>
                </a:solidFill>
                <a:latin typeface="Liberation Serif"/>
                <a:ea typeface="Liberation Serif"/>
                <a:cs typeface="Liberation Serif"/>
              </a:rPr>
              <a:t>$8.2B</a:t>
            </a:r>
          </a:p>
        </p:txBody>
      </p:sp>
      <p:sp>
        <p:nvSpPr>
          <p:cNvPr id="5" name="All-stock acquisition agreement">
            <a:extLst xmlns:a="http://schemas.openxmlformats.org/drawingml/2006/main">
              <a:ext uri="{FF2B5EF4-FFF2-40B4-BE49-F238E27FC236}">
                <a16:creationId xmlns:a16="http://schemas.microsoft.com/office/drawing/2014/main" id="{74C920BE-1D89-471F-A1AD-F169F0C4464D}"/>
              </a:ext>
            </a:extLst>
          </p:cNvPr>
          <p:cNvSpPr>
            <a:spLocks xmlns:a="http://schemas.openxmlformats.org/drawingml/2006/main" noGrp="1"/>
          </p:cNvSpPr>
          <p:nvPr/>
        </p:nvSpPr>
        <p:spPr>
          <a:xfrm xmlns:a="http://schemas.openxmlformats.org/drawingml/2006/main">
            <a:off x="742950" y="4295775"/>
            <a:ext cx="106394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a:solidFill>
                  <a:srgbClr val="FFFFFF"/>
                </a:solidFill>
                <a:latin typeface="Liberation Sans"/>
                <a:ea typeface="Liberation Sans"/>
                <a:cs typeface="Liberation Sans"/>
              </a:defRPr>
            </a:pPr>
            <a:r>
              <a:rPr sz="3450">
                <a:solidFill>
                  <a:srgbClr val="FFFFFF"/>
                </a:solidFill>
                <a:latin typeface="Liberation Sans"/>
                <a:ea typeface="Liberation Sans"/>
                <a:cs typeface="Liberation Sans"/>
              </a:rPr>
              <a:t>All-stock acquisition agreement</a:t>
            </a:r>
          </a:p>
        </p:txBody>
      </p:sp>
      <p:sp>
        <p:nvSpPr>
          <p:cNvPr id="6" name="Expected close by end of 2026&#10;Approvals pending">
            <a:extLst xmlns:a="http://schemas.openxmlformats.org/drawingml/2006/main">
              <a:ext uri="{FF2B5EF4-FFF2-40B4-BE49-F238E27FC236}">
                <a16:creationId xmlns:a16="http://schemas.microsoft.com/office/drawing/2014/main" id="{DEA78171-7E55-422F-B591-FA784E05B4B8}"/>
              </a:ext>
            </a:extLst>
          </p:cNvPr>
          <p:cNvSpPr>
            <a:spLocks xmlns:a="http://schemas.openxmlformats.org/drawingml/2006/main" noGrp="1"/>
          </p:cNvSpPr>
          <p:nvPr/>
        </p:nvSpPr>
        <p:spPr>
          <a:xfrm xmlns:a="http://schemas.openxmlformats.org/drawingml/2006/main">
            <a:off x="752475" y="5238750"/>
            <a:ext cx="10563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a:solidFill>
                  <a:srgbClr val="A1A1AA"/>
                </a:solidFill>
                <a:latin typeface="Liberation Sans"/>
                <a:ea typeface="Liberation Sans"/>
                <a:cs typeface="Liberation Sans"/>
              </a:defRPr>
            </a:pPr>
            <a:r>
              <a:rPr sz="2325">
                <a:solidFill>
                  <a:srgbClr val="A1A1AA"/>
                </a:solidFill>
                <a:latin typeface="Liberation Sans"/>
                <a:ea typeface="Liberation Sans"/>
                <a:cs typeface="Liberation Sans"/>
              </a:rPr>
              <a:t>Expected close by end of 2026</a:t>
            </a:r>
          </a:p>
          <a:p xmlns:a="http://schemas.openxmlformats.org/drawingml/2006/main">
            <a:pPr>
              <a:defRPr sz="2325">
                <a:solidFill>
                  <a:srgbClr val="A1A1AA"/>
                </a:solidFill>
                <a:latin typeface="Liberation Sans"/>
                <a:ea typeface="Liberation Sans"/>
                <a:cs typeface="Liberation Sans"/>
              </a:defRPr>
            </a:pPr>
            <a:r>
              <a:rPr sz="2325">
                <a:solidFill>
                  <a:srgbClr val="A1A1AA"/>
                </a:solidFill>
                <a:latin typeface="Liberation Sans"/>
                <a:ea typeface="Liberation Sans"/>
                <a:cs typeface="Liberation Sans"/>
              </a:rPr>
              <a:t>Approvals pending</a:t>
            </a:r>
          </a:p>
        </p:txBody>
      </p:sp>
    </p:spTree>
    <p:extLst>
      <p:ext uri="{BB962C8B-B14F-4D97-AF65-F5344CB8AC3E}">
        <p14:creationId xmlns:p14="http://schemas.microsoft.com/office/powerpoint/2010/main" val="2119429653"/>
      </p:ext>
    </p:extLst>
  </p:cSld>
</p:sld>
</file>

<file path=ppt/slides/slide12.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9" name="Helix 2.5 transfers to unseen homes">
            <a:extLst xmlns:a="http://schemas.openxmlformats.org/drawingml/2006/main">
              <a:ext uri="{FF2B5EF4-FFF2-40B4-BE49-F238E27FC236}">
                <a16:creationId xmlns:a16="http://schemas.microsoft.com/office/drawing/2014/main" id="{C8F1EC6C-7928-4359-B3DA-65D99F6B5501}"/>
              </a:ext>
            </a:extLst>
          </p:cNvPr>
          <p:cNvSpPr>
            <a:spLocks xmlns:a="http://schemas.openxmlformats.org/drawingml/2006/main" noGrp="1"/>
          </p:cNvSpPr>
          <p:nvPr/>
        </p:nvSpPr>
        <p:spPr>
          <a:xfrm xmlns:a="http://schemas.openxmlformats.org/drawingml/2006/main">
            <a:off x="666750" y="485775"/>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a:solidFill>
                  <a:srgbClr val="18181B"/>
                </a:solidFill>
                <a:latin typeface="Liberation Serif"/>
                <a:ea typeface="Liberation Serif"/>
                <a:cs typeface="Liberation Serif"/>
              </a:defRPr>
            </a:pPr>
            <a:r>
              <a:rPr sz="4650">
                <a:solidFill>
                  <a:srgbClr val="18181B"/>
                </a:solidFill>
                <a:latin typeface="Liberation Serif"/>
                <a:ea typeface="Liberation Serif"/>
                <a:cs typeface="Liberation Serif"/>
              </a:rPr>
              <a:t>Helix 2.5 transfers to unseen homes</a:t>
            </a:r>
          </a:p>
        </p:txBody>
      </p:sp>
      <p:sp>
        <p:nvSpPr>
          <p:cNvPr id="2" name="Full-task success, Figure-reported">
            <a:extLst xmlns:a="http://schemas.openxmlformats.org/drawingml/2006/main">
              <a:ext uri="{FF2B5EF4-FFF2-40B4-BE49-F238E27FC236}">
                <a16:creationId xmlns:a16="http://schemas.microsoft.com/office/drawing/2014/main" id="{A3AD7CC1-64CF-49FA-92A0-BCC80DF2B61F}"/>
              </a:ext>
            </a:extLst>
          </p:cNvPr>
          <p:cNvSpPr>
            <a:spLocks xmlns:a="http://schemas.openxmlformats.org/drawingml/2006/main" noGrp="1"/>
          </p:cNvSpPr>
          <p:nvPr/>
        </p:nvSpPr>
        <p:spPr>
          <a:xfrm xmlns:a="http://schemas.openxmlformats.org/drawingml/2006/main">
            <a:off x="695325" y="15906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52525B"/>
                </a:solidFill>
                <a:latin typeface="Liberation Sans"/>
                <a:ea typeface="Liberation Sans"/>
                <a:cs typeface="Liberation Sans"/>
              </a:defRPr>
            </a:pPr>
            <a:r>
              <a:rPr sz="2175">
                <a:solidFill>
                  <a:srgbClr val="52525B"/>
                </a:solidFill>
                <a:latin typeface="Liberation Sans"/>
                <a:ea typeface="Liberation Sans"/>
                <a:cs typeface="Liberation Sans"/>
              </a:rPr>
              <a:t>Full-task success, Figure-reported</a:t>
            </a:r>
          </a:p>
        </p:txBody>
      </p:sp>
      <p:sp>
        <p:nvSpPr>
          <p:cNvPr id="3" name="LongmontAI">
            <a:extLst xmlns:a="http://schemas.openxmlformats.org/drawingml/2006/main">
              <a:ext uri="{FF2B5EF4-FFF2-40B4-BE49-F238E27FC236}">
                <a16:creationId xmlns:a16="http://schemas.microsoft.com/office/drawing/2014/main" id="{9DB6049F-E68E-49B4-8A8F-61834AB2CA77}"/>
              </a:ext>
            </a:extLst>
          </p:cNvPr>
          <p:cNvSpPr>
            <a:spLocks xmlns:a="http://schemas.openxmlformats.org/drawingml/2006/main" noGrp="1"/>
          </p:cNvSpPr>
          <p:nvPr/>
        </p:nvSpPr>
        <p:spPr>
          <a:xfrm xmlns:a="http://schemas.openxmlformats.org/drawingml/2006/main">
            <a:off x="685800" y="63722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a:solidFill>
                  <a:srgbClr val="71717A"/>
                </a:solidFill>
                <a:latin typeface="Liberation Mono"/>
                <a:ea typeface="Liberation Mono"/>
                <a:cs typeface="Liberation Mono"/>
              </a:defRPr>
            </a:pPr>
            <a:r>
              <a:rPr sz="1425">
                <a:solidFill>
                  <a:srgbClr val="71717A"/>
                </a:solidFill>
                <a:latin typeface="Liberation Mono"/>
                <a:ea typeface="Liberation Mono"/>
                <a:cs typeface="Liberation Mono"/>
              </a:rPr>
              <a:t>LongmontAI</a:t>
            </a:r>
          </a:p>
        </p:txBody>
      </p:sp>
      <p:sp>
        <p:nvSpPr>
          <p:cNvPr id="4" name="12">
            <a:extLst xmlns:a="http://schemas.openxmlformats.org/drawingml/2006/main">
              <a:ext uri="{FF2B5EF4-FFF2-40B4-BE49-F238E27FC236}">
                <a16:creationId xmlns:a16="http://schemas.microsoft.com/office/drawing/2014/main" id="{A164FADE-60E6-48E1-BE99-22B1B8B8B200}"/>
              </a:ext>
            </a:extLst>
          </p:cNvPr>
          <p:cNvSpPr>
            <a:spLocks xmlns:a="http://schemas.openxmlformats.org/drawingml/2006/main" noGrp="1"/>
          </p:cNvSpPr>
          <p:nvPr/>
        </p:nvSpPr>
        <p:spPr>
          <a:xfrm xmlns:a="http://schemas.openxmlformats.org/drawingml/2006/main">
            <a:off x="10906125" y="6372225"/>
            <a:ext cx="600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a:solidFill>
                  <a:srgbClr val="71717A"/>
                </a:solidFill>
                <a:latin typeface="Liberation Mono"/>
                <a:ea typeface="Liberation Mono"/>
                <a:cs typeface="Liberation Mono"/>
              </a:defRPr>
            </a:pPr>
            <a:r>
              <a:rPr sz="1425">
                <a:solidFill>
                  <a:srgbClr val="71717A"/>
                </a:solidFill>
                <a:latin typeface="Liberation Mono"/>
                <a:ea typeface="Liberation Mono"/>
                <a:cs typeface="Liberation Mono"/>
              </a:rPr>
              <a:t>12</a:t>
            </a:r>
          </a:p>
        </p:txBody>
      </p:sp>
      <p:graphicFrame>
        <p:nvGraphicFramePr>
          <p:cNvPr id="13" name="Chart"/>
          <p:cNvGraphicFramePr/>
          <p:nvPr/>
        </p:nvGraphicFramePr>
        <p:xfrm>
          <a:off xmlns:a="http://schemas.openxmlformats.org/drawingml/2006/main" x="533400" y="2190750"/>
          <a:ext xmlns:a="http://schemas.openxmlformats.org/drawingml/2006/main" cx="6743700" cy="3486150"/>
        </p:xfrm>
        <a:graphic xmlns:a="http://schemas.openxmlformats.org/drawingml/2006/main">
          <a:graphicData uri="http://schemas.openxmlformats.org/drawingml/2006/chart">
            <c:chart xmlns:r="http://schemas.openxmlformats.org/officeDocument/2006/relationships" xmlns:c="http://schemas.openxmlformats.org/drawingml/2006/chart" r:id="Rc0064f674e4340ae"/>
          </a:graphicData>
        </a:graphic>
      </p:graphicFrame>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82bc2f5e6334ae1"/>
          <a:srcRect xmlns:a="http://schemas.openxmlformats.org/drawingml/2006/main" l="0" t="0" r="0" b="0"/>
          <a:stretch xmlns:a="http://schemas.openxmlformats.org/drawingml/2006/main">
            <a:fillRect l="0" t="0" r="0" b="0"/>
          </a:stretch>
        </p:blipFill>
        <p:spPr>
          <a:xfrm xmlns:a="http://schemas.openxmlformats.org/drawingml/2006/main">
            <a:off x="7696200" y="2228850"/>
            <a:ext cx="3810000" cy="2000250"/>
          </a:xfrm>
          <a:prstGeom xmlns:a="http://schemas.openxmlformats.org/drawingml/2006/main" prst="rect">
            <a:avLst/>
          </a:prstGeom>
        </p:spPr>
      </p:pic>
      <p:sp>
        <p:nvSpPr>
          <p:cNvPr id="7" name="30 unseen homes">
            <a:extLst xmlns:a="http://schemas.openxmlformats.org/drawingml/2006/main">
              <a:ext uri="{FF2B5EF4-FFF2-40B4-BE49-F238E27FC236}">
                <a16:creationId xmlns:a16="http://schemas.microsoft.com/office/drawing/2014/main" id="{4ABC3C90-3B99-41CD-AD05-2A027E718F5F}"/>
              </a:ext>
            </a:extLst>
          </p:cNvPr>
          <p:cNvSpPr>
            <a:spLocks xmlns:a="http://schemas.openxmlformats.org/drawingml/2006/main" noGrp="1"/>
          </p:cNvSpPr>
          <p:nvPr/>
        </p:nvSpPr>
        <p:spPr>
          <a:xfrm xmlns:a="http://schemas.openxmlformats.org/drawingml/2006/main">
            <a:off x="7696200" y="4514850"/>
            <a:ext cx="3857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a:solidFill>
                  <a:srgbClr val="1E3A5F"/>
                </a:solidFill>
                <a:latin typeface="Liberation Serif"/>
                <a:ea typeface="Liberation Serif"/>
                <a:cs typeface="Liberation Serif"/>
              </a:defRPr>
            </a:pPr>
            <a:r>
              <a:rPr sz="3000">
                <a:solidFill>
                  <a:srgbClr val="1E3A5F"/>
                </a:solidFill>
                <a:latin typeface="Liberation Serif"/>
                <a:ea typeface="Liberation Serif"/>
                <a:cs typeface="Liberation Serif"/>
              </a:rPr>
              <a:t>30 unseen homes</a:t>
            </a:r>
          </a:p>
        </p:txBody>
      </p:sp>
      <p:sp>
        <p:nvSpPr>
          <p:cNvPr id="8" name="Three household behaviors">
            <a:extLst xmlns:a="http://schemas.openxmlformats.org/drawingml/2006/main">
              <a:ext uri="{FF2B5EF4-FFF2-40B4-BE49-F238E27FC236}">
                <a16:creationId xmlns:a16="http://schemas.microsoft.com/office/drawing/2014/main" id="{3CBB8016-667F-4725-A262-87CACF8F0782}"/>
              </a:ext>
            </a:extLst>
          </p:cNvPr>
          <p:cNvSpPr>
            <a:spLocks xmlns:a="http://schemas.openxmlformats.org/drawingml/2006/main" noGrp="1"/>
          </p:cNvSpPr>
          <p:nvPr/>
        </p:nvSpPr>
        <p:spPr>
          <a:xfrm xmlns:a="http://schemas.openxmlformats.org/drawingml/2006/main">
            <a:off x="7705725" y="5286375"/>
            <a:ext cx="3810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a:solidFill>
                  <a:srgbClr val="52525B"/>
                </a:solidFill>
                <a:latin typeface="Liberation Sans"/>
                <a:ea typeface="Liberation Sans"/>
                <a:cs typeface="Liberation Sans"/>
              </a:defRPr>
            </a:pPr>
            <a:r>
              <a:rPr sz="2100">
                <a:solidFill>
                  <a:srgbClr val="52525B"/>
                </a:solidFill>
                <a:latin typeface="Liberation Sans"/>
                <a:ea typeface="Liberation Sans"/>
                <a:cs typeface="Liberation Sans"/>
              </a:rPr>
              <a:t>Three household behaviors</a:t>
            </a:r>
          </a:p>
        </p:txBody>
      </p:sp>
    </p:spTree>
    <p:extLst>
      <p:ext uri="{BB962C8B-B14F-4D97-AF65-F5344CB8AC3E}">
        <p14:creationId xmlns:p14="http://schemas.microsoft.com/office/powerpoint/2010/main" val="904241812"/>
      </p:ext>
    </p:extLst>
  </p:cSld>
</p:sld>
</file>

<file path=ppt/slides/slide13.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8" name="NVIDIA puts controls around agents">
            <a:extLst xmlns:a="http://schemas.openxmlformats.org/drawingml/2006/main">
              <a:ext uri="{FF2B5EF4-FFF2-40B4-BE49-F238E27FC236}">
                <a16:creationId xmlns:a16="http://schemas.microsoft.com/office/drawing/2014/main" id="{C49F2288-2250-43E1-A395-036E5C6C8B80}"/>
              </a:ext>
            </a:extLst>
          </p:cNvPr>
          <p:cNvSpPr>
            <a:spLocks xmlns:a="http://schemas.openxmlformats.org/drawingml/2006/main" noGrp="1"/>
          </p:cNvSpPr>
          <p:nvPr/>
        </p:nvSpPr>
        <p:spPr>
          <a:xfrm xmlns:a="http://schemas.openxmlformats.org/drawingml/2006/main">
            <a:off x="666750" y="485775"/>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a:solidFill>
                  <a:srgbClr val="FFFFFF"/>
                </a:solidFill>
                <a:latin typeface="Liberation Serif"/>
                <a:ea typeface="Liberation Serif"/>
                <a:cs typeface="Liberation Serif"/>
              </a:defRPr>
            </a:pPr>
            <a:r>
              <a:rPr sz="4650">
                <a:solidFill>
                  <a:srgbClr val="FFFFFF"/>
                </a:solidFill>
                <a:latin typeface="Liberation Serif"/>
                <a:ea typeface="Liberation Serif"/>
                <a:cs typeface="Liberation Serif"/>
              </a:rPr>
              <a:t>NVIDIA puts controls around agents</a:t>
            </a:r>
          </a:p>
        </p:txBody>
      </p:sp>
      <p:sp>
        <p:nvSpPr>
          <p:cNvPr id="2" name="LongmontAI">
            <a:extLst xmlns:a="http://schemas.openxmlformats.org/drawingml/2006/main">
              <a:ext uri="{FF2B5EF4-FFF2-40B4-BE49-F238E27FC236}">
                <a16:creationId xmlns:a16="http://schemas.microsoft.com/office/drawing/2014/main" id="{A46EB756-68EA-46B6-B204-02DCF9FE613B}"/>
              </a:ext>
            </a:extLst>
          </p:cNvPr>
          <p:cNvSpPr>
            <a:spLocks xmlns:a="http://schemas.openxmlformats.org/drawingml/2006/main" noGrp="1"/>
          </p:cNvSpPr>
          <p:nvPr/>
        </p:nvSpPr>
        <p:spPr>
          <a:xfrm xmlns:a="http://schemas.openxmlformats.org/drawingml/2006/main">
            <a:off x="685800" y="63722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LongmontAI</a:t>
            </a:r>
          </a:p>
        </p:txBody>
      </p:sp>
      <p:sp>
        <p:nvSpPr>
          <p:cNvPr id="3" name="13">
            <a:extLst xmlns:a="http://schemas.openxmlformats.org/drawingml/2006/main">
              <a:ext uri="{FF2B5EF4-FFF2-40B4-BE49-F238E27FC236}">
                <a16:creationId xmlns:a16="http://schemas.microsoft.com/office/drawing/2014/main" id="{C23991DD-FED4-49DF-AB90-D88B40B6C9E4}"/>
              </a:ext>
            </a:extLst>
          </p:cNvPr>
          <p:cNvSpPr>
            <a:spLocks xmlns:a="http://schemas.openxmlformats.org/drawingml/2006/main" noGrp="1"/>
          </p:cNvSpPr>
          <p:nvPr/>
        </p:nvSpPr>
        <p:spPr>
          <a:xfrm xmlns:a="http://schemas.openxmlformats.org/drawingml/2006/main">
            <a:off x="10906125" y="6372225"/>
            <a:ext cx="600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13</a:t>
            </a:r>
          </a:p>
        </p:txBody>
      </p:sp>
      <p:sp>
        <p:nvSpPr>
          <p:cNvPr id="4" name="Open Agent&#10;Safety Platform">
            <a:extLst xmlns:a="http://schemas.openxmlformats.org/drawingml/2006/main">
              <a:ext uri="{FF2B5EF4-FFF2-40B4-BE49-F238E27FC236}">
                <a16:creationId xmlns:a16="http://schemas.microsoft.com/office/drawing/2014/main" id="{C1709FC9-2613-4212-9D0D-4B2B96159B4C}"/>
              </a:ext>
            </a:extLst>
          </p:cNvPr>
          <p:cNvSpPr>
            <a:spLocks xmlns:a="http://schemas.openxmlformats.org/drawingml/2006/main" noGrp="1"/>
          </p:cNvSpPr>
          <p:nvPr/>
        </p:nvSpPr>
        <p:spPr>
          <a:xfrm xmlns:a="http://schemas.openxmlformats.org/drawingml/2006/main">
            <a:off x="676275" y="2038350"/>
            <a:ext cx="10810875"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075">
                <a:solidFill>
                  <a:srgbClr val="BFDBFE"/>
                </a:solidFill>
                <a:latin typeface="Liberation Serif"/>
                <a:ea typeface="Liberation Serif"/>
                <a:cs typeface="Liberation Serif"/>
              </a:defRPr>
            </a:pPr>
            <a:r>
              <a:rPr sz="6075">
                <a:solidFill>
                  <a:srgbClr val="BFDBFE"/>
                </a:solidFill>
                <a:latin typeface="Liberation Serif"/>
                <a:ea typeface="Liberation Serif"/>
                <a:cs typeface="Liberation Serif"/>
              </a:rPr>
              <a:t>Open Agent</a:t>
            </a:r>
          </a:p>
          <a:p xmlns:a="http://schemas.openxmlformats.org/drawingml/2006/main">
            <a:pPr>
              <a:defRPr sz="6075">
                <a:solidFill>
                  <a:srgbClr val="BFDBFE"/>
                </a:solidFill>
                <a:latin typeface="Liberation Serif"/>
                <a:ea typeface="Liberation Serif"/>
                <a:cs typeface="Liberation Serif"/>
              </a:defRPr>
            </a:pPr>
            <a:r>
              <a:rPr sz="6075">
                <a:solidFill>
                  <a:srgbClr val="BFDBFE"/>
                </a:solidFill>
                <a:latin typeface="Liberation Serif"/>
                <a:ea typeface="Liberation Serif"/>
                <a:cs typeface="Liberation Serif"/>
              </a:rPr>
              <a:t>Safety Platform</a:t>
            </a:r>
          </a:p>
        </p:txBody>
      </p:sp>
      <p:sp>
        <p:nvSpPr>
          <p:cNvPr id="5" name="Sandboxing">
            <a:extLst xmlns:a="http://schemas.openxmlformats.org/drawingml/2006/main">
              <a:ext uri="{FF2B5EF4-FFF2-40B4-BE49-F238E27FC236}">
                <a16:creationId xmlns:a16="http://schemas.microsoft.com/office/drawing/2014/main" id="{6285B8DE-88AB-49F4-BF19-C6C966F25BAA}"/>
              </a:ext>
            </a:extLst>
          </p:cNvPr>
          <p:cNvSpPr>
            <a:spLocks xmlns:a="http://schemas.openxmlformats.org/drawingml/2006/main" noGrp="1"/>
          </p:cNvSpPr>
          <p:nvPr/>
        </p:nvSpPr>
        <p:spPr>
          <a:xfrm xmlns:a="http://schemas.openxmlformats.org/drawingml/2006/main">
            <a:off x="714375" y="4676775"/>
            <a:ext cx="3876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a:solidFill>
                  <a:srgbClr val="FFFFFF"/>
                </a:solidFill>
                <a:latin typeface="Liberation Sans"/>
                <a:ea typeface="Liberation Sans"/>
                <a:cs typeface="Liberation Sans"/>
              </a:defRPr>
            </a:pPr>
            <a:r>
              <a:rPr sz="2775">
                <a:solidFill>
                  <a:srgbClr val="FFFFFF"/>
                </a:solidFill>
                <a:latin typeface="Liberation Sans"/>
                <a:ea typeface="Liberation Sans"/>
                <a:cs typeface="Liberation Sans"/>
              </a:rPr>
              <a:t>Sandboxing</a:t>
            </a:r>
          </a:p>
        </p:txBody>
      </p:sp>
      <p:sp>
        <p:nvSpPr>
          <p:cNvPr id="6" name="Policy enforcement">
            <a:extLst xmlns:a="http://schemas.openxmlformats.org/drawingml/2006/main">
              <a:ext uri="{FF2B5EF4-FFF2-40B4-BE49-F238E27FC236}">
                <a16:creationId xmlns:a16="http://schemas.microsoft.com/office/drawing/2014/main" id="{460BBC4C-1433-480C-A59B-3EB8BCCA5C8A}"/>
              </a:ext>
            </a:extLst>
          </p:cNvPr>
          <p:cNvSpPr>
            <a:spLocks xmlns:a="http://schemas.openxmlformats.org/drawingml/2006/main" noGrp="1"/>
          </p:cNvSpPr>
          <p:nvPr/>
        </p:nvSpPr>
        <p:spPr>
          <a:xfrm xmlns:a="http://schemas.openxmlformats.org/drawingml/2006/main">
            <a:off x="714375" y="5391150"/>
            <a:ext cx="5562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a:solidFill>
                  <a:srgbClr val="FFFFFF"/>
                </a:solidFill>
                <a:latin typeface="Liberation Sans"/>
                <a:ea typeface="Liberation Sans"/>
                <a:cs typeface="Liberation Sans"/>
              </a:defRPr>
            </a:pPr>
            <a:r>
              <a:rPr sz="2775">
                <a:solidFill>
                  <a:srgbClr val="FFFFFF"/>
                </a:solidFill>
                <a:latin typeface="Liberation Sans"/>
                <a:ea typeface="Liberation Sans"/>
                <a:cs typeface="Liberation Sans"/>
              </a:rPr>
              <a:t>Policy enforcement</a:t>
            </a:r>
          </a:p>
        </p:txBody>
      </p:sp>
      <p:sp>
        <p:nvSpPr>
          <p:cNvPr id="7" name="Independent&#10;monitoring">
            <a:extLst xmlns:a="http://schemas.openxmlformats.org/drawingml/2006/main">
              <a:ext uri="{FF2B5EF4-FFF2-40B4-BE49-F238E27FC236}">
                <a16:creationId xmlns:a16="http://schemas.microsoft.com/office/drawing/2014/main" id="{F6497591-1AA5-4D65-92C8-7BBD149228B5}"/>
              </a:ext>
            </a:extLst>
          </p:cNvPr>
          <p:cNvSpPr>
            <a:spLocks xmlns:a="http://schemas.openxmlformats.org/drawingml/2006/main" noGrp="1"/>
          </p:cNvSpPr>
          <p:nvPr/>
        </p:nvSpPr>
        <p:spPr>
          <a:xfrm xmlns:a="http://schemas.openxmlformats.org/drawingml/2006/main">
            <a:off x="7362825" y="4676775"/>
            <a:ext cx="423862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75">
                <a:solidFill>
                  <a:srgbClr val="FFFFFF"/>
                </a:solidFill>
                <a:latin typeface="Liberation Sans"/>
                <a:ea typeface="Liberation Sans"/>
                <a:cs typeface="Liberation Sans"/>
              </a:defRPr>
            </a:pPr>
            <a:r>
              <a:rPr sz="3075">
                <a:solidFill>
                  <a:srgbClr val="FFFFFF"/>
                </a:solidFill>
                <a:latin typeface="Liberation Sans"/>
                <a:ea typeface="Liberation Sans"/>
                <a:cs typeface="Liberation Sans"/>
              </a:rPr>
              <a:t>Independent</a:t>
            </a:r>
          </a:p>
          <a:p xmlns:a="http://schemas.openxmlformats.org/drawingml/2006/main">
            <a:pPr>
              <a:defRPr sz="3075">
                <a:solidFill>
                  <a:srgbClr val="FFFFFF"/>
                </a:solidFill>
                <a:latin typeface="Liberation Sans"/>
                <a:ea typeface="Liberation Sans"/>
                <a:cs typeface="Liberation Sans"/>
              </a:defRPr>
            </a:pPr>
            <a:r>
              <a:rPr sz="3075">
                <a:solidFill>
                  <a:srgbClr val="FFFFFF"/>
                </a:solidFill>
                <a:latin typeface="Liberation Sans"/>
                <a:ea typeface="Liberation Sans"/>
                <a:cs typeface="Liberation Sans"/>
              </a:rPr>
              <a:t>monitoring</a:t>
            </a:r>
          </a:p>
        </p:txBody>
      </p:sp>
    </p:spTree>
    <p:extLst>
      <p:ext uri="{BB962C8B-B14F-4D97-AF65-F5344CB8AC3E}">
        <p14:creationId xmlns:p14="http://schemas.microsoft.com/office/powerpoint/2010/main" val="1491762470"/>
      </p:ext>
    </p:extLst>
  </p:cSld>
</p:sld>
</file>

<file path=ppt/slides/slide14.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8" name="Who grades the safety homework?">
            <a:extLst xmlns:a="http://schemas.openxmlformats.org/drawingml/2006/main">
              <a:ext uri="{FF2B5EF4-FFF2-40B4-BE49-F238E27FC236}">
                <a16:creationId xmlns:a16="http://schemas.microsoft.com/office/drawing/2014/main" id="{A95675DC-C4B9-4728-8509-87610BA8C9DA}"/>
              </a:ext>
            </a:extLst>
          </p:cNvPr>
          <p:cNvSpPr>
            <a:spLocks xmlns:a="http://schemas.openxmlformats.org/drawingml/2006/main" noGrp="1"/>
          </p:cNvSpPr>
          <p:nvPr/>
        </p:nvSpPr>
        <p:spPr>
          <a:xfrm xmlns:a="http://schemas.openxmlformats.org/drawingml/2006/main">
            <a:off x="666750" y="485775"/>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a:solidFill>
                  <a:srgbClr val="FFFFFF"/>
                </a:solidFill>
                <a:latin typeface="Liberation Serif"/>
                <a:ea typeface="Liberation Serif"/>
                <a:cs typeface="Liberation Serif"/>
              </a:defRPr>
            </a:pPr>
            <a:r>
              <a:rPr sz="4650">
                <a:solidFill>
                  <a:srgbClr val="FFFFFF"/>
                </a:solidFill>
                <a:latin typeface="Liberation Serif"/>
                <a:ea typeface="Liberation Serif"/>
                <a:cs typeface="Liberation Serif"/>
              </a:rPr>
              <a:t>Who grades the safety homework?</a:t>
            </a:r>
          </a:p>
        </p:txBody>
      </p:sp>
      <p:sp>
        <p:nvSpPr>
          <p:cNvPr id="2" name="LongmontAI">
            <a:extLst xmlns:a="http://schemas.openxmlformats.org/drawingml/2006/main">
              <a:ext uri="{FF2B5EF4-FFF2-40B4-BE49-F238E27FC236}">
                <a16:creationId xmlns:a16="http://schemas.microsoft.com/office/drawing/2014/main" id="{2A666298-F6BB-4D07-8E49-3DAF329824F1}"/>
              </a:ext>
            </a:extLst>
          </p:cNvPr>
          <p:cNvSpPr>
            <a:spLocks xmlns:a="http://schemas.openxmlformats.org/drawingml/2006/main" noGrp="1"/>
          </p:cNvSpPr>
          <p:nvPr/>
        </p:nvSpPr>
        <p:spPr>
          <a:xfrm xmlns:a="http://schemas.openxmlformats.org/drawingml/2006/main">
            <a:off x="685800" y="63722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LongmontAI</a:t>
            </a:r>
          </a:p>
        </p:txBody>
      </p:sp>
      <p:sp>
        <p:nvSpPr>
          <p:cNvPr id="3" name="14">
            <a:extLst xmlns:a="http://schemas.openxmlformats.org/drawingml/2006/main">
              <a:ext uri="{FF2B5EF4-FFF2-40B4-BE49-F238E27FC236}">
                <a16:creationId xmlns:a16="http://schemas.microsoft.com/office/drawing/2014/main" id="{DA62E2B9-1008-48C8-9B23-AE84C5835691}"/>
              </a:ext>
            </a:extLst>
          </p:cNvPr>
          <p:cNvSpPr>
            <a:spLocks xmlns:a="http://schemas.openxmlformats.org/drawingml/2006/main" noGrp="1"/>
          </p:cNvSpPr>
          <p:nvPr/>
        </p:nvSpPr>
        <p:spPr>
          <a:xfrm xmlns:a="http://schemas.openxmlformats.org/drawingml/2006/main">
            <a:off x="10906125" y="6372225"/>
            <a:ext cx="600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14</a:t>
            </a:r>
          </a:p>
        </p:txBody>
      </p:sp>
      <p:sp>
        <p:nvSpPr>
          <p:cNvPr id="4" name="“Grading each&#10;other’s homework”">
            <a:extLst xmlns:a="http://schemas.openxmlformats.org/drawingml/2006/main">
              <a:ext uri="{FF2B5EF4-FFF2-40B4-BE49-F238E27FC236}">
                <a16:creationId xmlns:a16="http://schemas.microsoft.com/office/drawing/2014/main" id="{37E982CB-E652-43F0-8CD3-0809878136A1}"/>
              </a:ext>
            </a:extLst>
          </p:cNvPr>
          <p:cNvSpPr>
            <a:spLocks xmlns:a="http://schemas.openxmlformats.org/drawingml/2006/main" noGrp="1"/>
          </p:cNvSpPr>
          <p:nvPr/>
        </p:nvSpPr>
        <p:spPr>
          <a:xfrm xmlns:a="http://schemas.openxmlformats.org/drawingml/2006/main">
            <a:off x="685800" y="19145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625">
                <a:solidFill>
                  <a:srgbClr val="BFDBFE"/>
                </a:solidFill>
                <a:latin typeface="Liberation Serif"/>
                <a:ea typeface="Liberation Serif"/>
                <a:cs typeface="Liberation Serif"/>
              </a:defRPr>
            </a:pPr>
            <a:r>
              <a:rPr sz="5625">
                <a:solidFill>
                  <a:srgbClr val="BFDBFE"/>
                </a:solidFill>
                <a:latin typeface="Liberation Serif"/>
                <a:ea typeface="Liberation Serif"/>
                <a:cs typeface="Liberation Serif"/>
              </a:rPr>
              <a:t>“Grading each</a:t>
            </a:r>
          </a:p>
          <a:p xmlns:a="http://schemas.openxmlformats.org/drawingml/2006/main">
            <a:pPr>
              <a:defRPr sz="5625">
                <a:solidFill>
                  <a:srgbClr val="BFDBFE"/>
                </a:solidFill>
                <a:latin typeface="Liberation Serif"/>
                <a:ea typeface="Liberation Serif"/>
                <a:cs typeface="Liberation Serif"/>
              </a:defRPr>
            </a:pPr>
            <a:r>
              <a:rPr sz="5625">
                <a:solidFill>
                  <a:srgbClr val="BFDBFE"/>
                </a:solidFill>
                <a:latin typeface="Liberation Serif"/>
                <a:ea typeface="Liberation Serif"/>
                <a:cs typeface="Liberation Serif"/>
              </a:rPr>
              <a:t>other’s homework”</a:t>
            </a:r>
          </a:p>
        </p:txBody>
      </p:sp>
      <p:sp>
        <p:nvSpPr>
          <p:cNvPr id="5" name="Elon Musk">
            <a:extLst xmlns:a="http://schemas.openxmlformats.org/drawingml/2006/main">
              <a:ext uri="{FF2B5EF4-FFF2-40B4-BE49-F238E27FC236}">
                <a16:creationId xmlns:a16="http://schemas.microsoft.com/office/drawing/2014/main" id="{95D53135-3A93-4E82-B04B-F374BD204D31}"/>
              </a:ext>
            </a:extLst>
          </p:cNvPr>
          <p:cNvSpPr>
            <a:spLocks xmlns:a="http://schemas.openxmlformats.org/drawingml/2006/main" noGrp="1"/>
          </p:cNvSpPr>
          <p:nvPr/>
        </p:nvSpPr>
        <p:spPr>
          <a:xfrm xmlns:a="http://schemas.openxmlformats.org/drawingml/2006/main">
            <a:off x="742950" y="3924300"/>
            <a:ext cx="10401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a:solidFill>
                  <a:srgbClr val="A1A1AA"/>
                </a:solidFill>
                <a:latin typeface="Liberation Sans"/>
                <a:ea typeface="Liberation Sans"/>
                <a:cs typeface="Liberation Sans"/>
              </a:defRPr>
            </a:pPr>
            <a:r>
              <a:rPr sz="2250">
                <a:solidFill>
                  <a:srgbClr val="A1A1AA"/>
                </a:solidFill>
                <a:latin typeface="Liberation Sans"/>
                <a:ea typeface="Liberation Sans"/>
                <a:cs typeface="Liberation Sans"/>
              </a:rPr>
              <a:t>Elon Musk</a:t>
            </a:r>
          </a:p>
        </p:txBody>
      </p:sp>
      <p:sp>
        <p:nvSpPr>
          <p:cNvPr id="6" name="Six companies">
            <a:extLst xmlns:a="http://schemas.openxmlformats.org/drawingml/2006/main">
              <a:ext uri="{FF2B5EF4-FFF2-40B4-BE49-F238E27FC236}">
                <a16:creationId xmlns:a16="http://schemas.microsoft.com/office/drawing/2014/main" id="{FE48612E-55EF-45E2-AA5F-77AB30B5F3CD}"/>
              </a:ext>
            </a:extLst>
          </p:cNvPr>
          <p:cNvSpPr>
            <a:spLocks xmlns:a="http://schemas.openxmlformats.org/drawingml/2006/main" noGrp="1"/>
          </p:cNvSpPr>
          <p:nvPr/>
        </p:nvSpPr>
        <p:spPr>
          <a:xfrm xmlns:a="http://schemas.openxmlformats.org/drawingml/2006/main">
            <a:off x="733425" y="5076825"/>
            <a:ext cx="44672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a:solidFill>
                  <a:srgbClr val="FFFFFF"/>
                </a:solidFill>
                <a:latin typeface="Liberation Sans"/>
                <a:ea typeface="Liberation Sans"/>
                <a:cs typeface="Liberation Sans"/>
              </a:defRPr>
            </a:pPr>
            <a:r>
              <a:rPr sz="3225">
                <a:solidFill>
                  <a:srgbClr val="FFFFFF"/>
                </a:solidFill>
                <a:latin typeface="Liberation Sans"/>
                <a:ea typeface="Liberation Sans"/>
                <a:cs typeface="Liberation Sans"/>
              </a:rPr>
              <a:t>Six companies</a:t>
            </a:r>
          </a:p>
        </p:txBody>
      </p:sp>
      <p:sp>
        <p:nvSpPr>
          <p:cNvPr id="7" name="Voluntary accord&#10;External evaluation promised">
            <a:extLst xmlns:a="http://schemas.openxmlformats.org/drawingml/2006/main">
              <a:ext uri="{FF2B5EF4-FFF2-40B4-BE49-F238E27FC236}">
                <a16:creationId xmlns:a16="http://schemas.microsoft.com/office/drawing/2014/main" id="{7C715AEE-1B26-4CED-BA39-1D166262C741}"/>
              </a:ext>
            </a:extLst>
          </p:cNvPr>
          <p:cNvSpPr>
            <a:spLocks xmlns:a="http://schemas.openxmlformats.org/drawingml/2006/main" noGrp="1"/>
          </p:cNvSpPr>
          <p:nvPr/>
        </p:nvSpPr>
        <p:spPr>
          <a:xfrm xmlns:a="http://schemas.openxmlformats.org/drawingml/2006/main">
            <a:off x="6086475" y="5048250"/>
            <a:ext cx="5429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a:solidFill>
                  <a:srgbClr val="FFFFFF"/>
                </a:solidFill>
                <a:latin typeface="Liberation Sans"/>
                <a:ea typeface="Liberation Sans"/>
                <a:cs typeface="Liberation Sans"/>
              </a:defRPr>
            </a:pPr>
            <a:r>
              <a:rPr sz="2400">
                <a:solidFill>
                  <a:srgbClr val="FFFFFF"/>
                </a:solidFill>
                <a:latin typeface="Liberation Sans"/>
                <a:ea typeface="Liberation Sans"/>
                <a:cs typeface="Liberation Sans"/>
              </a:rPr>
              <a:t>Voluntary accord</a:t>
            </a:r>
          </a:p>
          <a:p xmlns:a="http://schemas.openxmlformats.org/drawingml/2006/main">
            <a:pPr>
              <a:defRPr sz="2400">
                <a:solidFill>
                  <a:srgbClr val="FFFFFF"/>
                </a:solidFill>
                <a:latin typeface="Liberation Sans"/>
                <a:ea typeface="Liberation Sans"/>
                <a:cs typeface="Liberation Sans"/>
              </a:defRPr>
            </a:pPr>
            <a:r>
              <a:rPr sz="2400">
                <a:solidFill>
                  <a:srgbClr val="FFFFFF"/>
                </a:solidFill>
                <a:latin typeface="Liberation Sans"/>
                <a:ea typeface="Liberation Sans"/>
                <a:cs typeface="Liberation Sans"/>
              </a:rPr>
              <a:t>External evaluation promised</a:t>
            </a:r>
          </a:p>
        </p:txBody>
      </p:sp>
    </p:spTree>
    <p:extLst>
      <p:ext uri="{BB962C8B-B14F-4D97-AF65-F5344CB8AC3E}">
        <p14:creationId xmlns:p14="http://schemas.microsoft.com/office/powerpoint/2010/main" val="369487093"/>
      </p:ext>
    </p:extLst>
  </p:cSld>
</p:sld>
</file>

<file path=ppt/slides/slide15.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8" name="One real job is the next test">
            <a:extLst xmlns:a="http://schemas.openxmlformats.org/drawingml/2006/main">
              <a:ext uri="{FF2B5EF4-FFF2-40B4-BE49-F238E27FC236}">
                <a16:creationId xmlns:a16="http://schemas.microsoft.com/office/drawing/2014/main" id="{84714CCF-93BB-4C52-82D5-7519F027087C}"/>
              </a:ext>
            </a:extLst>
          </p:cNvPr>
          <p:cNvSpPr>
            <a:spLocks xmlns:a="http://schemas.openxmlformats.org/drawingml/2006/main" noGrp="1"/>
          </p:cNvSpPr>
          <p:nvPr/>
        </p:nvSpPr>
        <p:spPr>
          <a:xfrm xmlns:a="http://schemas.openxmlformats.org/drawingml/2006/main">
            <a:off x="666750" y="485775"/>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a:solidFill>
                  <a:srgbClr val="18181B"/>
                </a:solidFill>
                <a:latin typeface="Liberation Serif"/>
                <a:ea typeface="Liberation Serif"/>
                <a:cs typeface="Liberation Serif"/>
              </a:defRPr>
            </a:pPr>
            <a:r>
              <a:rPr sz="4650">
                <a:solidFill>
                  <a:srgbClr val="18181B"/>
                </a:solidFill>
                <a:latin typeface="Liberation Serif"/>
                <a:ea typeface="Liberation Serif"/>
                <a:cs typeface="Liberation Serif"/>
              </a:rPr>
              <a:t>One real job is the next test</a:t>
            </a:r>
          </a:p>
        </p:txBody>
      </p:sp>
      <p:sp>
        <p:nvSpPr>
          <p:cNvPr id="2" name="LongmontAI">
            <a:extLst xmlns:a="http://schemas.openxmlformats.org/drawingml/2006/main">
              <a:ext uri="{FF2B5EF4-FFF2-40B4-BE49-F238E27FC236}">
                <a16:creationId xmlns:a16="http://schemas.microsoft.com/office/drawing/2014/main" id="{1CD20588-C29B-4C9E-B80D-E18FDA4D1E5A}"/>
              </a:ext>
            </a:extLst>
          </p:cNvPr>
          <p:cNvSpPr>
            <a:spLocks xmlns:a="http://schemas.openxmlformats.org/drawingml/2006/main" noGrp="1"/>
          </p:cNvSpPr>
          <p:nvPr/>
        </p:nvSpPr>
        <p:spPr>
          <a:xfrm xmlns:a="http://schemas.openxmlformats.org/drawingml/2006/main">
            <a:off x="685800" y="63722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a:solidFill>
                  <a:srgbClr val="71717A"/>
                </a:solidFill>
                <a:latin typeface="Liberation Mono"/>
                <a:ea typeface="Liberation Mono"/>
                <a:cs typeface="Liberation Mono"/>
              </a:defRPr>
            </a:pPr>
            <a:r>
              <a:rPr sz="1425">
                <a:solidFill>
                  <a:srgbClr val="71717A"/>
                </a:solidFill>
                <a:latin typeface="Liberation Mono"/>
                <a:ea typeface="Liberation Mono"/>
                <a:cs typeface="Liberation Mono"/>
              </a:rPr>
              <a:t>LongmontAI</a:t>
            </a:r>
          </a:p>
        </p:txBody>
      </p:sp>
      <p:sp>
        <p:nvSpPr>
          <p:cNvPr id="3" name="15">
            <a:extLst xmlns:a="http://schemas.openxmlformats.org/drawingml/2006/main">
              <a:ext uri="{FF2B5EF4-FFF2-40B4-BE49-F238E27FC236}">
                <a16:creationId xmlns:a16="http://schemas.microsoft.com/office/drawing/2014/main" id="{6F4DF04D-79F1-4896-9FCD-7EB90065A711}"/>
              </a:ext>
            </a:extLst>
          </p:cNvPr>
          <p:cNvSpPr>
            <a:spLocks xmlns:a="http://schemas.openxmlformats.org/drawingml/2006/main" noGrp="1"/>
          </p:cNvSpPr>
          <p:nvPr/>
        </p:nvSpPr>
        <p:spPr>
          <a:xfrm xmlns:a="http://schemas.openxmlformats.org/drawingml/2006/main">
            <a:off x="10906125" y="6372225"/>
            <a:ext cx="600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a:solidFill>
                  <a:srgbClr val="71717A"/>
                </a:solidFill>
                <a:latin typeface="Liberation Mono"/>
                <a:ea typeface="Liberation Mono"/>
                <a:cs typeface="Liberation Mono"/>
              </a:defRPr>
            </a:pPr>
            <a:r>
              <a:rPr sz="1425">
                <a:solidFill>
                  <a:srgbClr val="71717A"/>
                </a:solidFill>
                <a:latin typeface="Liberation Mono"/>
                <a:ea typeface="Liberation Mono"/>
                <a:cs typeface="Liberation Mono"/>
              </a:rPr>
              <a:t>15</a:t>
            </a:r>
          </a:p>
        </p:txBody>
      </p:sp>
      <p:sp>
        <p:nvSpPr>
          <p:cNvPr id="4" name="Quality and total cost">
            <a:extLst xmlns:a="http://schemas.openxmlformats.org/drawingml/2006/main">
              <a:ext uri="{FF2B5EF4-FFF2-40B4-BE49-F238E27FC236}">
                <a16:creationId xmlns:a16="http://schemas.microsoft.com/office/drawing/2014/main" id="{EB051030-675E-4531-A56C-25E47B6081D1}"/>
              </a:ext>
            </a:extLst>
          </p:cNvPr>
          <p:cNvSpPr>
            <a:spLocks xmlns:a="http://schemas.openxmlformats.org/drawingml/2006/main" noGrp="1"/>
          </p:cNvSpPr>
          <p:nvPr/>
        </p:nvSpPr>
        <p:spPr>
          <a:xfrm xmlns:a="http://schemas.openxmlformats.org/drawingml/2006/main">
            <a:off x="704850" y="2143125"/>
            <a:ext cx="105537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a:solidFill>
                  <a:srgbClr val="18181B"/>
                </a:solidFill>
                <a:latin typeface="Liberation Serif"/>
                <a:ea typeface="Liberation Serif"/>
                <a:cs typeface="Liberation Serif"/>
              </a:defRPr>
            </a:pPr>
            <a:r>
              <a:rPr sz="3900">
                <a:solidFill>
                  <a:srgbClr val="18181B"/>
                </a:solidFill>
                <a:latin typeface="Liberation Serif"/>
                <a:ea typeface="Liberation Serif"/>
                <a:cs typeface="Liberation Serif"/>
              </a:rPr>
              <a:t>Quality and total cost</a:t>
            </a:r>
          </a:p>
        </p:txBody>
      </p:sp>
      <p:sp>
        <p:nvSpPr>
          <p:cNvPr id="5" name="Time saved">
            <a:extLst xmlns:a="http://schemas.openxmlformats.org/drawingml/2006/main">
              <a:ext uri="{FF2B5EF4-FFF2-40B4-BE49-F238E27FC236}">
                <a16:creationId xmlns:a16="http://schemas.microsoft.com/office/drawing/2014/main" id="{F36588E5-3A2F-4E9D-A233-4ECF8EE7CCD7}"/>
              </a:ext>
            </a:extLst>
          </p:cNvPr>
          <p:cNvSpPr>
            <a:spLocks xmlns:a="http://schemas.openxmlformats.org/drawingml/2006/main" noGrp="1"/>
          </p:cNvSpPr>
          <p:nvPr/>
        </p:nvSpPr>
        <p:spPr>
          <a:xfrm xmlns:a="http://schemas.openxmlformats.org/drawingml/2006/main">
            <a:off x="704850" y="3124200"/>
            <a:ext cx="105537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a:solidFill>
                  <a:srgbClr val="18181B"/>
                </a:solidFill>
                <a:latin typeface="Liberation Serif"/>
                <a:ea typeface="Liberation Serif"/>
                <a:cs typeface="Liberation Serif"/>
              </a:defRPr>
            </a:pPr>
            <a:r>
              <a:rPr sz="3900">
                <a:solidFill>
                  <a:srgbClr val="18181B"/>
                </a:solidFill>
                <a:latin typeface="Liberation Serif"/>
                <a:ea typeface="Liberation Serif"/>
                <a:cs typeface="Liberation Serif"/>
              </a:rPr>
              <a:t>Time saved</a:t>
            </a:r>
          </a:p>
        </p:txBody>
      </p:sp>
      <p:sp>
        <p:nvSpPr>
          <p:cNvPr id="6" name="The agent’s actual work">
            <a:extLst xmlns:a="http://schemas.openxmlformats.org/drawingml/2006/main">
              <a:ext uri="{FF2B5EF4-FFF2-40B4-BE49-F238E27FC236}">
                <a16:creationId xmlns:a16="http://schemas.microsoft.com/office/drawing/2014/main" id="{84F1A6F3-5C9A-49FF-84F3-B531C455037A}"/>
              </a:ext>
            </a:extLst>
          </p:cNvPr>
          <p:cNvSpPr>
            <a:spLocks xmlns:a="http://schemas.openxmlformats.org/drawingml/2006/main" noGrp="1"/>
          </p:cNvSpPr>
          <p:nvPr/>
        </p:nvSpPr>
        <p:spPr>
          <a:xfrm xmlns:a="http://schemas.openxmlformats.org/drawingml/2006/main">
            <a:off x="704850" y="4105275"/>
            <a:ext cx="105537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a:solidFill>
                  <a:srgbClr val="18181B"/>
                </a:solidFill>
                <a:latin typeface="Liberation Serif"/>
                <a:ea typeface="Liberation Serif"/>
                <a:cs typeface="Liberation Serif"/>
              </a:defRPr>
            </a:pPr>
            <a:r>
              <a:rPr sz="3900">
                <a:solidFill>
                  <a:srgbClr val="18181B"/>
                </a:solidFill>
                <a:latin typeface="Liberation Serif"/>
                <a:ea typeface="Liberation Serif"/>
                <a:cs typeface="Liberation Serif"/>
              </a:rPr>
              <a:t>The agent’s actual work</a:t>
            </a:r>
          </a:p>
        </p:txBody>
      </p:sp>
      <p:sp>
        <p:nvSpPr>
          <p:cNvPr id="7" name="Which workflow would you try first?">
            <a:extLst xmlns:a="http://schemas.openxmlformats.org/drawingml/2006/main">
              <a:ext uri="{FF2B5EF4-FFF2-40B4-BE49-F238E27FC236}">
                <a16:creationId xmlns:a16="http://schemas.microsoft.com/office/drawing/2014/main" id="{7E6BC37E-7CB1-46C4-AA68-77083477243A}"/>
              </a:ext>
            </a:extLst>
          </p:cNvPr>
          <p:cNvSpPr>
            <a:spLocks xmlns:a="http://schemas.openxmlformats.org/drawingml/2006/main" noGrp="1"/>
          </p:cNvSpPr>
          <p:nvPr/>
        </p:nvSpPr>
        <p:spPr>
          <a:xfrm xmlns:a="http://schemas.openxmlformats.org/drawingml/2006/main">
            <a:off x="714375" y="553402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a:solidFill>
                  <a:srgbClr val="2563EB"/>
                </a:solidFill>
                <a:latin typeface="Liberation Sans"/>
                <a:ea typeface="Liberation Sans"/>
                <a:cs typeface="Liberation Sans"/>
              </a:defRPr>
            </a:pPr>
            <a:r>
              <a:rPr sz="2850">
                <a:solidFill>
                  <a:srgbClr val="2563EB"/>
                </a:solidFill>
                <a:latin typeface="Liberation Sans"/>
                <a:ea typeface="Liberation Sans"/>
                <a:cs typeface="Liberation Sans"/>
              </a:rPr>
              <a:t>Which workflow would you try first?</a:t>
            </a:r>
          </a:p>
        </p:txBody>
      </p:sp>
    </p:spTree>
    <p:extLst>
      <p:ext uri="{BB962C8B-B14F-4D97-AF65-F5344CB8AC3E}">
        <p14:creationId xmlns:p14="http://schemas.microsoft.com/office/powerpoint/2010/main" val="1569133094"/>
      </p:ext>
    </p:extLst>
  </p:cSld>
</p:sld>
</file>

<file path=ppt/slides/slide16.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13" name="Sources and release detail">
            <a:extLst xmlns:a="http://schemas.openxmlformats.org/drawingml/2006/main">
              <a:ext uri="{FF2B5EF4-FFF2-40B4-BE49-F238E27FC236}">
                <a16:creationId xmlns:a16="http://schemas.microsoft.com/office/drawing/2014/main" id="{77BE4E23-9CBE-4F10-B7F7-0C586638235C}"/>
              </a:ext>
            </a:extLst>
          </p:cNvPr>
          <p:cNvSpPr>
            <a:spLocks xmlns:a="http://schemas.openxmlformats.org/drawingml/2006/main" noGrp="1"/>
          </p:cNvSpPr>
          <p:nvPr/>
        </p:nvSpPr>
        <p:spPr>
          <a:xfrm xmlns:a="http://schemas.openxmlformats.org/drawingml/2006/main">
            <a:off x="666750" y="485775"/>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a:solidFill>
                  <a:srgbClr val="FFFFFF"/>
                </a:solidFill>
                <a:latin typeface="Liberation Serif"/>
                <a:ea typeface="Liberation Serif"/>
                <a:cs typeface="Liberation Serif"/>
              </a:defRPr>
            </a:pPr>
            <a:r>
              <a:rPr sz="4650">
                <a:solidFill>
                  <a:srgbClr val="FFFFFF"/>
                </a:solidFill>
                <a:latin typeface="Liberation Serif"/>
                <a:ea typeface="Liberation Serif"/>
                <a:cs typeface="Liberation Serif"/>
              </a:rPr>
              <a:t>Sources and release detail</a:t>
            </a:r>
          </a:p>
        </p:txBody>
      </p:sp>
      <p:sp>
        <p:nvSpPr>
          <p:cNvPr id="2" name="LongmontAI">
            <a:extLst xmlns:a="http://schemas.openxmlformats.org/drawingml/2006/main">
              <a:ext uri="{FF2B5EF4-FFF2-40B4-BE49-F238E27FC236}">
                <a16:creationId xmlns:a16="http://schemas.microsoft.com/office/drawing/2014/main" id="{96E6B973-FEE7-4DAB-9EF7-D23607B393AB}"/>
              </a:ext>
            </a:extLst>
          </p:cNvPr>
          <p:cNvSpPr>
            <a:spLocks xmlns:a="http://schemas.openxmlformats.org/drawingml/2006/main" noGrp="1"/>
          </p:cNvSpPr>
          <p:nvPr/>
        </p:nvSpPr>
        <p:spPr>
          <a:xfrm xmlns:a="http://schemas.openxmlformats.org/drawingml/2006/main">
            <a:off x="685800" y="63722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LongmontAI</a:t>
            </a:r>
          </a:p>
        </p:txBody>
      </p:sp>
      <p:sp>
        <p:nvSpPr>
          <p:cNvPr id="3" name="16">
            <a:extLst xmlns:a="http://schemas.openxmlformats.org/drawingml/2006/main">
              <a:ext uri="{FF2B5EF4-FFF2-40B4-BE49-F238E27FC236}">
                <a16:creationId xmlns:a16="http://schemas.microsoft.com/office/drawing/2014/main" id="{1B196809-4A50-4556-8BDE-8221FFDB1B52}"/>
              </a:ext>
            </a:extLst>
          </p:cNvPr>
          <p:cNvSpPr>
            <a:spLocks xmlns:a="http://schemas.openxmlformats.org/drawingml/2006/main" noGrp="1"/>
          </p:cNvSpPr>
          <p:nvPr/>
        </p:nvSpPr>
        <p:spPr>
          <a:xfrm xmlns:a="http://schemas.openxmlformats.org/drawingml/2006/main">
            <a:off x="10906125" y="6372225"/>
            <a:ext cx="600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a:solidFill>
                  <a:srgbClr val="A1A1AA"/>
                </a:solidFill>
                <a:latin typeface="Liberation Mono"/>
                <a:ea typeface="Liberation Mono"/>
                <a:cs typeface="Liberation Mono"/>
              </a:defRPr>
            </a:pPr>
            <a:r>
              <a:rPr sz="1425">
                <a:solidFill>
                  <a:srgbClr val="A1A1AA"/>
                </a:solidFill>
                <a:latin typeface="Liberation Mono"/>
                <a:ea typeface="Liberation Mono"/>
                <a:cs typeface="Liberation Mono"/>
              </a:rPr>
              <a:t>16</a:t>
            </a:r>
          </a:p>
        </p:txBody>
      </p:sp>
      <p:sp>
        <p:nvSpPr>
          <p:cNvPr id="4" name="Models and pricing">
            <a:extLst xmlns:a="http://schemas.openxmlformats.org/drawingml/2006/main">
              <a:ext uri="{FF2B5EF4-FFF2-40B4-BE49-F238E27FC236}">
                <a16:creationId xmlns:a16="http://schemas.microsoft.com/office/drawing/2014/main" id="{C99E413F-FC2D-406A-B366-D3C8EB7E9B7C}"/>
              </a:ext>
            </a:extLst>
          </p:cNvPr>
          <p:cNvSpPr>
            <a:spLocks xmlns:a="http://schemas.openxmlformats.org/drawingml/2006/main" noGrp="1"/>
          </p:cNvSpPr>
          <p:nvPr/>
        </p:nvSpPr>
        <p:spPr>
          <a:xfrm xmlns:a="http://schemas.openxmlformats.org/drawingml/2006/main">
            <a:off x="685800" y="2009775"/>
            <a:ext cx="5334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a:solidFill>
                  <a:srgbClr val="BFDBFE"/>
                </a:solidFill>
                <a:latin typeface="Liberation Serif"/>
                <a:ea typeface="Liberation Serif"/>
                <a:cs typeface="Liberation Serif"/>
              </a:defRPr>
            </a:pPr>
            <a:r>
              <a:rPr sz="3225">
                <a:solidFill>
                  <a:srgbClr val="BFDBFE"/>
                </a:solidFill>
                <a:latin typeface="Liberation Serif"/>
                <a:ea typeface="Liberation Serif"/>
                <a:cs typeface="Liberation Serif"/>
                <a:hlinkClick xmlns:r="http://schemas.openxmlformats.org/officeDocument/2006/relationships" r:id="R0c4b9e45205a4029"/>
              </a:rPr>
              <a:t>Models and pricing</a:t>
            </a:r>
          </a:p>
        </p:txBody>
      </p:sp>
      <p:sp>
        <p:nvSpPr>
          <p:cNvPr id="5" name="OpenAI, Anthropic, xAI">
            <a:extLst xmlns:a="http://schemas.openxmlformats.org/drawingml/2006/main">
              <a:ext uri="{FF2B5EF4-FFF2-40B4-BE49-F238E27FC236}">
                <a16:creationId xmlns:a16="http://schemas.microsoft.com/office/drawing/2014/main" id="{8B222265-F830-48E7-B482-279E4B24E636}"/>
              </a:ext>
            </a:extLst>
          </p:cNvPr>
          <p:cNvSpPr>
            <a:spLocks xmlns:a="http://schemas.openxmlformats.org/drawingml/2006/main" noGrp="1"/>
          </p:cNvSpPr>
          <p:nvPr/>
        </p:nvSpPr>
        <p:spPr>
          <a:xfrm xmlns:a="http://schemas.openxmlformats.org/drawingml/2006/main">
            <a:off x="685800" y="2800350"/>
            <a:ext cx="53244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a:solidFill>
                  <a:srgbClr val="A1A1AA"/>
                </a:solidFill>
                <a:latin typeface="Liberation Sans"/>
                <a:ea typeface="Liberation Sans"/>
                <a:cs typeface="Liberation Sans"/>
              </a:defRPr>
            </a:pPr>
            <a:r>
              <a:rPr sz="2100">
                <a:solidFill>
                  <a:srgbClr val="A1A1AA"/>
                </a:solidFill>
                <a:latin typeface="Liberation Sans"/>
                <a:ea typeface="Liberation Sans"/>
                <a:cs typeface="Liberation Sans"/>
              </a:rPr>
              <a:t>OpenAI, Anthropic, xAI</a:t>
            </a:r>
          </a:p>
        </p:txBody>
      </p:sp>
      <p:sp>
        <p:nvSpPr>
          <p:cNvPr id="6" name="DevDay and agents">
            <a:extLst xmlns:a="http://schemas.openxmlformats.org/drawingml/2006/main">
              <a:ext uri="{FF2B5EF4-FFF2-40B4-BE49-F238E27FC236}">
                <a16:creationId xmlns:a16="http://schemas.microsoft.com/office/drawing/2014/main" id="{975ED7AF-31AB-4008-A1DB-E3E03139A686}"/>
              </a:ext>
            </a:extLst>
          </p:cNvPr>
          <p:cNvSpPr>
            <a:spLocks xmlns:a="http://schemas.openxmlformats.org/drawingml/2006/main" noGrp="1"/>
          </p:cNvSpPr>
          <p:nvPr/>
        </p:nvSpPr>
        <p:spPr>
          <a:xfrm xmlns:a="http://schemas.openxmlformats.org/drawingml/2006/main">
            <a:off x="6496050" y="2009775"/>
            <a:ext cx="5334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a:solidFill>
                  <a:srgbClr val="BFDBFE"/>
                </a:solidFill>
                <a:latin typeface="Liberation Serif"/>
                <a:ea typeface="Liberation Serif"/>
                <a:cs typeface="Liberation Serif"/>
              </a:defRPr>
            </a:pPr>
            <a:r>
              <a:rPr sz="3225">
                <a:solidFill>
                  <a:srgbClr val="BFDBFE"/>
                </a:solidFill>
                <a:latin typeface="Liberation Serif"/>
                <a:ea typeface="Liberation Serif"/>
                <a:cs typeface="Liberation Serif"/>
                <a:hlinkClick xmlns:r="http://schemas.openxmlformats.org/officeDocument/2006/relationships" r:id="R72c3f820365e4099"/>
              </a:rPr>
              <a:t>DevDay and agents</a:t>
            </a:r>
          </a:p>
        </p:txBody>
      </p:sp>
      <p:sp>
        <p:nvSpPr>
          <p:cNvPr id="7" name="OpenAI DevDay 2026 recap">
            <a:extLst xmlns:a="http://schemas.openxmlformats.org/drawingml/2006/main">
              <a:ext uri="{FF2B5EF4-FFF2-40B4-BE49-F238E27FC236}">
                <a16:creationId xmlns:a16="http://schemas.microsoft.com/office/drawing/2014/main" id="{EB8DAE8C-A1D1-4E77-8EFB-B83CD5F7386C}"/>
              </a:ext>
            </a:extLst>
          </p:cNvPr>
          <p:cNvSpPr>
            <a:spLocks xmlns:a="http://schemas.openxmlformats.org/drawingml/2006/main" noGrp="1"/>
          </p:cNvSpPr>
          <p:nvPr/>
        </p:nvSpPr>
        <p:spPr>
          <a:xfrm xmlns:a="http://schemas.openxmlformats.org/drawingml/2006/main">
            <a:off x="6496050" y="2800350"/>
            <a:ext cx="53244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a:solidFill>
                  <a:srgbClr val="A1A1AA"/>
                </a:solidFill>
                <a:latin typeface="Liberation Sans"/>
                <a:ea typeface="Liberation Sans"/>
                <a:cs typeface="Liberation Sans"/>
              </a:defRPr>
            </a:pPr>
            <a:r>
              <a:rPr sz="2100">
                <a:solidFill>
                  <a:srgbClr val="A1A1AA"/>
                </a:solidFill>
                <a:latin typeface="Liberation Sans"/>
                <a:ea typeface="Liberation Sans"/>
                <a:cs typeface="Liberation Sans"/>
              </a:rPr>
              <a:t>OpenAI DevDay 2026 recap</a:t>
            </a:r>
          </a:p>
        </p:txBody>
      </p:sp>
      <p:sp>
        <p:nvSpPr>
          <p:cNvPr id="8" name="Physical AI">
            <a:extLst xmlns:a="http://schemas.openxmlformats.org/drawingml/2006/main">
              <a:ext uri="{FF2B5EF4-FFF2-40B4-BE49-F238E27FC236}">
                <a16:creationId xmlns:a16="http://schemas.microsoft.com/office/drawing/2014/main" id="{8EDCCD78-CF89-4B8B-8105-298878174A07}"/>
              </a:ext>
            </a:extLst>
          </p:cNvPr>
          <p:cNvSpPr>
            <a:spLocks xmlns:a="http://schemas.openxmlformats.org/drawingml/2006/main" noGrp="1"/>
          </p:cNvSpPr>
          <p:nvPr/>
        </p:nvSpPr>
        <p:spPr>
          <a:xfrm xmlns:a="http://schemas.openxmlformats.org/drawingml/2006/main">
            <a:off x="685800" y="3810000"/>
            <a:ext cx="5334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a:solidFill>
                  <a:srgbClr val="BFDBFE"/>
                </a:solidFill>
                <a:latin typeface="Liberation Serif"/>
                <a:ea typeface="Liberation Serif"/>
                <a:cs typeface="Liberation Serif"/>
              </a:defRPr>
            </a:pPr>
            <a:r>
              <a:rPr sz="3225">
                <a:solidFill>
                  <a:srgbClr val="BFDBFE"/>
                </a:solidFill>
                <a:latin typeface="Liberation Serif"/>
                <a:ea typeface="Liberation Serif"/>
                <a:cs typeface="Liberation Serif"/>
                <a:hlinkClick xmlns:r="http://schemas.openxmlformats.org/officeDocument/2006/relationships" r:id="R5b6ef39fc1564a3d"/>
              </a:rPr>
              <a:t>Physical AI</a:t>
            </a:r>
          </a:p>
        </p:txBody>
      </p:sp>
      <p:sp>
        <p:nvSpPr>
          <p:cNvPr id="9" name="AMD, Figure, NVIDIA">
            <a:extLst xmlns:a="http://schemas.openxmlformats.org/drawingml/2006/main">
              <a:ext uri="{FF2B5EF4-FFF2-40B4-BE49-F238E27FC236}">
                <a16:creationId xmlns:a16="http://schemas.microsoft.com/office/drawing/2014/main" id="{6FBCC41A-5703-4164-A4F8-CE01663CFE2D}"/>
              </a:ext>
            </a:extLst>
          </p:cNvPr>
          <p:cNvSpPr>
            <a:spLocks xmlns:a="http://schemas.openxmlformats.org/drawingml/2006/main" noGrp="1"/>
          </p:cNvSpPr>
          <p:nvPr/>
        </p:nvSpPr>
        <p:spPr>
          <a:xfrm xmlns:a="http://schemas.openxmlformats.org/drawingml/2006/main">
            <a:off x="685800" y="4600575"/>
            <a:ext cx="53244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a:solidFill>
                  <a:srgbClr val="A1A1AA"/>
                </a:solidFill>
                <a:latin typeface="Liberation Sans"/>
                <a:ea typeface="Liberation Sans"/>
                <a:cs typeface="Liberation Sans"/>
              </a:defRPr>
            </a:pPr>
            <a:r>
              <a:rPr sz="2100">
                <a:solidFill>
                  <a:srgbClr val="A1A1AA"/>
                </a:solidFill>
                <a:latin typeface="Liberation Sans"/>
                <a:ea typeface="Liberation Sans"/>
                <a:cs typeface="Liberation Sans"/>
              </a:rPr>
              <a:t>AMD, Figure, NVIDIA</a:t>
            </a:r>
          </a:p>
        </p:txBody>
      </p:sp>
      <p:sp>
        <p:nvSpPr>
          <p:cNvPr id="10" name="Voice, music and safety">
            <a:extLst xmlns:a="http://schemas.openxmlformats.org/drawingml/2006/main">
              <a:ext uri="{FF2B5EF4-FFF2-40B4-BE49-F238E27FC236}">
                <a16:creationId xmlns:a16="http://schemas.microsoft.com/office/drawing/2014/main" id="{2A102B98-F792-4D46-B3CA-A237CE410CE2}"/>
              </a:ext>
            </a:extLst>
          </p:cNvPr>
          <p:cNvSpPr>
            <a:spLocks xmlns:a="http://schemas.openxmlformats.org/drawingml/2006/main" noGrp="1"/>
          </p:cNvSpPr>
          <p:nvPr/>
        </p:nvSpPr>
        <p:spPr>
          <a:xfrm xmlns:a="http://schemas.openxmlformats.org/drawingml/2006/main">
            <a:off x="6496050" y="3810000"/>
            <a:ext cx="5334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a:solidFill>
                  <a:srgbClr val="BFDBFE"/>
                </a:solidFill>
                <a:latin typeface="Liberation Serif"/>
                <a:ea typeface="Liberation Serif"/>
                <a:cs typeface="Liberation Serif"/>
              </a:defRPr>
            </a:pPr>
            <a:r>
              <a:rPr sz="3225">
                <a:solidFill>
                  <a:srgbClr val="BFDBFE"/>
                </a:solidFill>
                <a:latin typeface="Liberation Serif"/>
                <a:ea typeface="Liberation Serif"/>
                <a:cs typeface="Liberation Serif"/>
                <a:hlinkClick xmlns:r="http://schemas.openxmlformats.org/officeDocument/2006/relationships" r:id="R39f4d19f0b6c420b"/>
              </a:rPr>
              <a:t>Voice, music and safety</a:t>
            </a:r>
          </a:p>
        </p:txBody>
      </p:sp>
      <p:sp>
        <p:nvSpPr>
          <p:cNvPr id="11" name="Google, Suno, industry reporting">
            <a:extLst xmlns:a="http://schemas.openxmlformats.org/drawingml/2006/main">
              <a:ext uri="{FF2B5EF4-FFF2-40B4-BE49-F238E27FC236}">
                <a16:creationId xmlns:a16="http://schemas.microsoft.com/office/drawing/2014/main" id="{12900FD1-3730-490B-B5DF-B923FC408F1C}"/>
              </a:ext>
            </a:extLst>
          </p:cNvPr>
          <p:cNvSpPr>
            <a:spLocks xmlns:a="http://schemas.openxmlformats.org/drawingml/2006/main" noGrp="1"/>
          </p:cNvSpPr>
          <p:nvPr/>
        </p:nvSpPr>
        <p:spPr>
          <a:xfrm xmlns:a="http://schemas.openxmlformats.org/drawingml/2006/main">
            <a:off x="6496050" y="4600575"/>
            <a:ext cx="53244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a:solidFill>
                  <a:srgbClr val="A1A1AA"/>
                </a:solidFill>
                <a:latin typeface="Liberation Sans"/>
                <a:ea typeface="Liberation Sans"/>
                <a:cs typeface="Liberation Sans"/>
              </a:defRPr>
            </a:pPr>
            <a:r>
              <a:rPr sz="2100">
                <a:solidFill>
                  <a:srgbClr val="A1A1AA"/>
                </a:solidFill>
                <a:latin typeface="Liberation Sans"/>
                <a:ea typeface="Liberation Sans"/>
                <a:cs typeface="Liberation Sans"/>
              </a:rPr>
              <a:t>Google, Suno, industry reporting</a:t>
            </a:r>
          </a:p>
        </p:txBody>
      </p:sp>
      <p:sp>
        <p:nvSpPr>
          <p:cNvPr id="12" name="Benchmarks and product claims are vendor-reported">
            <a:extLst xmlns:a="http://schemas.openxmlformats.org/drawingml/2006/main">
              <a:ext uri="{FF2B5EF4-FFF2-40B4-BE49-F238E27FC236}">
                <a16:creationId xmlns:a16="http://schemas.microsoft.com/office/drawing/2014/main" id="{E96D3E69-0BCA-4119-B4B9-28CEB828DB9F}"/>
              </a:ext>
            </a:extLst>
          </p:cNvPr>
          <p:cNvSpPr>
            <a:spLocks xmlns:a="http://schemas.openxmlformats.org/drawingml/2006/main" noGrp="1"/>
          </p:cNvSpPr>
          <p:nvPr/>
        </p:nvSpPr>
        <p:spPr>
          <a:xfrm xmlns:a="http://schemas.openxmlformats.org/drawingml/2006/main">
            <a:off x="704850" y="5848350"/>
            <a:ext cx="1052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a:solidFill>
                  <a:srgbClr val="A1A1AA"/>
                </a:solidFill>
                <a:latin typeface="Liberation Sans"/>
                <a:ea typeface="Liberation Sans"/>
                <a:cs typeface="Liberation Sans"/>
              </a:defRPr>
            </a:pPr>
            <a:r>
              <a:rPr sz="1875">
                <a:solidFill>
                  <a:srgbClr val="A1A1AA"/>
                </a:solidFill>
                <a:latin typeface="Liberation Sans"/>
                <a:ea typeface="Liberation Sans"/>
                <a:cs typeface="Liberation Sans"/>
              </a:rPr>
              <a:t>Benchmarks and product claims are vendor-reported</a:t>
            </a:r>
          </a:p>
        </p:txBody>
      </p:sp>
    </p:spTree>
    <p:extLst>
      <p:ext uri="{BB962C8B-B14F-4D97-AF65-F5344CB8AC3E}">
        <p14:creationId xmlns:p14="http://schemas.microsoft.com/office/powerpoint/2010/main" val="1725514164"/>
      </p:ext>
    </p:extLst>
  </p:cSld>
</p:sld>
</file>

<file path=ppt/theme/theme1.xml><?xml version="1.0" encoding="utf-8"?>
<a:theme xmlns:a="http://schemas.openxmlformats.org/drawingml/2006/main" name="ChatGPT">
  <a:themeElements>
    <a:clrScheme name="LongmontAI">
      <a:dk1>
        <a:srgbClr val="09090B"/>
      </a:dk1>
      <a:lt1>
        <a:srgbClr val="FFFFFF"/>
      </a:lt1>
      <a:dk2>
        <a:srgbClr val="18181B"/>
      </a:dk2>
      <a:lt2>
        <a:srgbClr val="F6F5F1"/>
      </a:lt2>
      <a:accent1>
        <a:srgbClr val="3B82F6"/>
      </a:accent1>
      <a:accent2>
        <a:srgbClr val="BFDBFE"/>
      </a:accent2>
      <a:accent3>
        <a:srgbClr val="64748B"/>
      </a:accent3>
      <a:accent4>
        <a:srgbClr val="94A3B8"/>
      </a:accent4>
      <a:accent5>
        <a:srgbClr val="CBD5E1"/>
      </a:accent5>
      <a:accent6>
        <a:srgbClr val="E2E8F0"/>
      </a:accent6>
      <a:hlink>
        <a:srgbClr val="BFDBFE"/>
      </a:hlink>
      <a:folHlink>
        <a:srgbClr val="BFDBFE"/>
      </a:folHlink>
    </a:clrScheme>
    <a:fontScheme name="Office">
      <a:majorFont>
        <a:latin typeface="Calibri Light"/>
        <a:ea typeface="Calibri Light"/>
        <a:cs typeface="Calibri Light"/>
      </a:majorFont>
      <a:minorFont>
        <a:latin typeface="Calibri"/>
        <a:ea typeface="Calibri"/>
        <a:cs typeface="Calibri"/>
      </a:minorFont>
    </a:fontScheme>
    <a:fmtScheme name="LongmontAI">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2026-09-30T17:15:28.4740000Z</dcterms:created>
  <dcterms:modified xsi:type="dcterms:W3CDTF">2026-09-30T17:15:28.4740000Z</dcterms:modified>
</coreProperties>
</file>